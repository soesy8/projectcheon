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40516-EFBF-4B69-BE53-B05C51C48267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BA5DC-1E75-46B5-B4D1-633DC8C8BE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37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표지</a:t>
            </a:r>
            <a:r>
              <a:rPr lang="en-US" altLang="ko-KR"/>
              <a:t>. </a:t>
            </a:r>
            <a:r>
              <a:rPr lang="ko-KR" altLang="en-US"/>
              <a:t>팀 부채</a:t>
            </a:r>
            <a:r>
              <a:rPr lang="en-US" altLang="ko-KR"/>
              <a:t>, </a:t>
            </a:r>
            <a:r>
              <a:rPr lang="ko-KR" altLang="en-US"/>
              <a:t>팀장</a:t>
            </a:r>
            <a:r>
              <a:rPr lang="en-US" altLang="ko-KR"/>
              <a:t>·</a:t>
            </a:r>
            <a:r>
              <a:rPr lang="ko-KR" altLang="en-US"/>
              <a:t>개발 김민성</a:t>
            </a:r>
            <a:r>
              <a:rPr lang="en-US" altLang="ko-KR"/>
              <a:t>. </a:t>
            </a:r>
            <a:r>
              <a:rPr lang="ko-KR" altLang="en-US"/>
              <a:t>프로젝트 가제는 천지인</a:t>
            </a:r>
            <a:r>
              <a:rPr lang="en-US" altLang="ko-KR"/>
              <a:t>(</a:t>
            </a:r>
            <a:r>
              <a:rPr lang="ko-KR" altLang="en-US"/>
              <a:t>天地人</a:t>
            </a:r>
            <a:r>
              <a:rPr lang="en-US" altLang="ko-KR"/>
              <a:t>), </a:t>
            </a:r>
            <a:r>
              <a:rPr lang="ko-KR" altLang="en-US"/>
              <a:t>현재 시연명은 천 </a:t>
            </a:r>
            <a:r>
              <a:rPr lang="en-US" altLang="ko-KR"/>
              <a:t>/ CHEON, </a:t>
            </a:r>
            <a:r>
              <a:rPr lang="ko-KR" altLang="en-US"/>
              <a:t>시연 부제는 산문을 지키는 자다</a:t>
            </a:r>
            <a:r>
              <a:rPr lang="en-US" altLang="ko-KR"/>
              <a:t>. </a:t>
            </a:r>
            <a:r>
              <a:rPr lang="ko-KR" altLang="en-US"/>
              <a:t>프로젝트 전체 기획과 현재 한 구간 시연을 함께 설명한다</a:t>
            </a:r>
            <a:r>
              <a:rPr lang="en-US" altLang="ko-KR"/>
              <a:t>. </a:t>
            </a:r>
            <a:r>
              <a:rPr lang="ko-KR" altLang="en-US"/>
              <a:t>기획서 </a:t>
            </a:r>
            <a:r>
              <a:rPr lang="en-US" altLang="ko-KR"/>
              <a:t>0~2</a:t>
            </a:r>
            <a:r>
              <a:rPr lang="ko-KR" altLang="en-US"/>
              <a:t>장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677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1~2</a:t>
            </a:r>
            <a:r>
              <a:rPr lang="ko-KR" altLang="en-US"/>
              <a:t>장</a:t>
            </a:r>
            <a:r>
              <a:rPr lang="en-US" altLang="ko-KR"/>
              <a:t>. 3D </a:t>
            </a:r>
            <a:r>
              <a:rPr lang="ko-KR" altLang="en-US"/>
              <a:t>실시간 전술형 액션 </a:t>
            </a:r>
            <a:r>
              <a:rPr lang="en-US" altLang="ko-KR"/>
              <a:t>RPG. </a:t>
            </a:r>
            <a:r>
              <a:rPr lang="ko-KR" altLang="en-US"/>
              <a:t>한국 설화와 민간신앙</a:t>
            </a:r>
            <a:r>
              <a:rPr lang="en-US" altLang="ko-KR"/>
              <a:t>, </a:t>
            </a:r>
            <a:r>
              <a:rPr lang="ko-KR" altLang="en-US"/>
              <a:t>견습 도사와 부채</a:t>
            </a:r>
            <a:r>
              <a:rPr lang="en-US" altLang="ko-KR"/>
              <a:t>, </a:t>
            </a:r>
            <a:r>
              <a:rPr lang="ko-KR" altLang="en-US"/>
              <a:t>짧은 탐색 및 보스전 시연이 중심이다</a:t>
            </a:r>
            <a:r>
              <a:rPr lang="en-US" altLang="ko-KR"/>
              <a:t>. PC </a:t>
            </a:r>
            <a:r>
              <a:rPr lang="ko-KR" altLang="en-US"/>
              <a:t>키보드</a:t>
            </a:r>
            <a:r>
              <a:rPr lang="en-US" altLang="ko-KR"/>
              <a:t>·</a:t>
            </a:r>
            <a:r>
              <a:rPr lang="ko-KR" altLang="en-US"/>
              <a:t>마우스는 현재 조작 기준이며 최종 출시 플랫폼은 미정이다</a:t>
            </a:r>
            <a:r>
              <a:rPr lang="en-US" altLang="ko-KR"/>
              <a:t>. </a:t>
            </a:r>
            <a:r>
              <a:rPr lang="ko-KR" altLang="en-US"/>
              <a:t>개발 환경은 </a:t>
            </a:r>
            <a:r>
              <a:rPr lang="en-US" altLang="ko-KR"/>
              <a:t>ProjectSettings/ProjectVersion.txt </a:t>
            </a:r>
            <a:r>
              <a:rPr lang="ko-KR" altLang="en-US"/>
              <a:t>및 </a:t>
            </a:r>
            <a:r>
              <a:rPr lang="en-US" altLang="ko-KR"/>
              <a:t>Packages/manifest.json</a:t>
            </a:r>
            <a:r>
              <a:rPr lang="ko-KR" altLang="en-US"/>
              <a:t>을 확인했다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455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2</a:t>
            </a:r>
            <a:r>
              <a:rPr lang="ko-KR" altLang="en-US"/>
              <a:t>장 설계 원칙</a:t>
            </a:r>
            <a:r>
              <a:rPr lang="en-US" altLang="ko-KR"/>
              <a:t>, 3</a:t>
            </a:r>
            <a:r>
              <a:rPr lang="ko-KR" altLang="en-US"/>
              <a:t>장 세계관</a:t>
            </a:r>
            <a:r>
              <a:rPr lang="en-US" altLang="ko-KR"/>
              <a:t>, 5~7</a:t>
            </a:r>
            <a:r>
              <a:rPr lang="ko-KR" altLang="en-US"/>
              <a:t>장 플레이어</a:t>
            </a:r>
            <a:r>
              <a:rPr lang="en-US" altLang="ko-KR"/>
              <a:t>·</a:t>
            </a:r>
            <a:r>
              <a:rPr lang="ko-KR" altLang="en-US"/>
              <a:t>전투</a:t>
            </a:r>
            <a:r>
              <a:rPr lang="en-US" altLang="ko-KR"/>
              <a:t>. </a:t>
            </a:r>
            <a:r>
              <a:rPr lang="ko-KR" altLang="en-US"/>
              <a:t>전통 소재가 장식으로만 머무르지 않도록 각 사물에 플레이 역할을 부여한다</a:t>
            </a:r>
            <a:r>
              <a:rPr lang="en-US" altLang="ko-KR"/>
              <a:t>. </a:t>
            </a:r>
            <a:r>
              <a:rPr lang="ko-KR" altLang="en-US"/>
              <a:t>산신각의 거점 기능과 장승의 관문 역할을 설명한다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780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3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현실과 영적 세계는 같은 지형 위에 겹쳐 존재한다</a:t>
            </a:r>
            <a:r>
              <a:rPr lang="en-US" altLang="ko-KR"/>
              <a:t>. </a:t>
            </a:r>
            <a:r>
              <a:rPr lang="ko-KR" altLang="en-US"/>
              <a:t>현재는 산문 통과 후 같은 씬의 배경</a:t>
            </a:r>
            <a:r>
              <a:rPr lang="en-US" altLang="ko-KR"/>
              <a:t>·</a:t>
            </a:r>
            <a:r>
              <a:rPr lang="ko-KR" altLang="en-US"/>
              <a:t>조명</a:t>
            </a:r>
            <a:r>
              <a:rPr lang="en-US" altLang="ko-KR"/>
              <a:t>·</a:t>
            </a:r>
            <a:r>
              <a:rPr lang="ko-KR" altLang="en-US"/>
              <a:t>안개</a:t>
            </a:r>
            <a:r>
              <a:rPr lang="en-US" altLang="ko-KR"/>
              <a:t>·</a:t>
            </a:r>
            <a:r>
              <a:rPr lang="ko-KR" altLang="en-US"/>
              <a:t>하늘 색을 전환한다</a:t>
            </a:r>
            <a:r>
              <a:rPr lang="en-US" altLang="ko-KR"/>
              <a:t>. </a:t>
            </a:r>
            <a:r>
              <a:rPr lang="ko-KR" altLang="en-US"/>
              <a:t>별도 영계 지형이나 양쪽 세계를 동시에 보이는 포털 미리보기의 완성으로 해석하지 않는다</a:t>
            </a:r>
            <a:r>
              <a:rPr lang="en-US" altLang="ko-KR"/>
              <a:t>. </a:t>
            </a:r>
            <a:r>
              <a:rPr lang="ko-KR" altLang="en-US"/>
              <a:t>근거</a:t>
            </a:r>
            <a:r>
              <a:rPr lang="en-US" altLang="ko-KR"/>
              <a:t>: PassWorldTransition.cs. </a:t>
            </a:r>
            <a:r>
              <a:rPr lang="ko-KR" altLang="en-US"/>
              <a:t>이미지</a:t>
            </a:r>
            <a:r>
              <a:rPr lang="en-US" altLang="ko-KR"/>
              <a:t>: Assets/Temp/SummitMistReveal~/Summit.png </a:t>
            </a:r>
            <a:r>
              <a:rPr lang="ko-KR" altLang="en-US"/>
              <a:t>및 </a:t>
            </a:r>
            <a:r>
              <a:rPr lang="en-US" altLang="ko-KR"/>
              <a:t>Assets/Temp/BossPatterns~/Test_BossPatterns_Play.png. </a:t>
            </a:r>
            <a:r>
              <a:rPr lang="ko-KR" altLang="en-US"/>
              <a:t>보관 화면은 과거 시점이다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681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4</a:t>
            </a:r>
            <a:r>
              <a:rPr lang="ko-KR" altLang="en-US"/>
              <a:t>장</a:t>
            </a:r>
            <a:r>
              <a:rPr lang="en-US" altLang="ko-KR"/>
              <a:t>. PassGameFlow.cs, PassShrineInteraction.cs, PassBossEntrance.cs</a:t>
            </a:r>
            <a:r>
              <a:rPr lang="ko-KR" altLang="en-US"/>
              <a:t>의 현재 연결을 확인했다</a:t>
            </a:r>
            <a:r>
              <a:rPr lang="en-US" altLang="ko-KR"/>
              <a:t>. </a:t>
            </a:r>
            <a:r>
              <a:rPr lang="ko-KR" altLang="en-US"/>
              <a:t>기도는 회복과 체크포인트를 제공하지만 산문 통과의 강제 선행 조건은 아니다</a:t>
            </a:r>
            <a:r>
              <a:rPr lang="en-US" altLang="ko-KR"/>
              <a:t>. </a:t>
            </a:r>
            <a:r>
              <a:rPr lang="ko-KR" altLang="en-US"/>
              <a:t>시작 화면의 보스 즉시 도전은 일반 산길 구간을 건너뛴다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12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3~4</a:t>
            </a:r>
            <a:r>
              <a:rPr lang="ko-KR" altLang="en-US"/>
              <a:t>장</a:t>
            </a:r>
            <a:r>
              <a:rPr lang="en-US" altLang="ko-KR"/>
              <a:t>, 8</a:t>
            </a:r>
            <a:r>
              <a:rPr lang="ko-KR" altLang="en-US"/>
              <a:t>장</a:t>
            </a:r>
            <a:r>
              <a:rPr lang="en-US" altLang="ko-KR"/>
              <a:t>, 10</a:t>
            </a:r>
            <a:r>
              <a:rPr lang="ko-KR" altLang="en-US"/>
              <a:t>장</a:t>
            </a:r>
            <a:r>
              <a:rPr lang="en-US" altLang="ko-KR"/>
              <a:t>. PassStairAtmosphere.cs</a:t>
            </a:r>
            <a:r>
              <a:rPr lang="ko-KR" altLang="en-US"/>
              <a:t>와 </a:t>
            </a:r>
            <a:r>
              <a:rPr lang="en-US" altLang="ko-KR"/>
              <a:t>PassMountainMist.cs</a:t>
            </a:r>
            <a:r>
              <a:rPr lang="ko-KR" altLang="en-US"/>
              <a:t>가 등반 높이와 분위기를 제어하고 </a:t>
            </a:r>
            <a:r>
              <a:rPr lang="en-US" altLang="ko-KR"/>
              <a:t>PassShrineInteraction.cs</a:t>
            </a:r>
            <a:r>
              <a:rPr lang="ko-KR" altLang="en-US"/>
              <a:t>가 기도 및 거점 기능을 담당한다</a:t>
            </a:r>
            <a:r>
              <a:rPr lang="en-US" altLang="ko-KR"/>
              <a:t>. </a:t>
            </a:r>
            <a:r>
              <a:rPr lang="ko-KR" altLang="en-US"/>
              <a:t>기도 기본 시간은 약 </a:t>
            </a:r>
            <a:r>
              <a:rPr lang="en-US" altLang="ko-KR"/>
              <a:t>1.2</a:t>
            </a:r>
            <a:r>
              <a:rPr lang="ko-KR" altLang="en-US"/>
              <a:t>초다</a:t>
            </a:r>
            <a:r>
              <a:rPr lang="en-US" altLang="ko-KR"/>
              <a:t>. </a:t>
            </a:r>
            <a:r>
              <a:rPr lang="ko-KR" altLang="en-US"/>
              <a:t>이미지</a:t>
            </a:r>
            <a:r>
              <a:rPr lang="en-US" altLang="ko-KR"/>
              <a:t>: Assets/Temp/SummitMistReveal~/Start.png.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808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5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현재 키 입력은 </a:t>
            </a:r>
            <a:r>
              <a:rPr lang="en-US" altLang="ko-KR"/>
              <a:t>PassPlayerMovement.cs, PassAnimationController.cs, PassCamera.cs, PassGourdDrinking.cs, PassGameFlow.cs, PassBossEntrance.cs</a:t>
            </a:r>
            <a:r>
              <a:rPr lang="ko-KR" altLang="en-US"/>
              <a:t>와 비교했다</a:t>
            </a:r>
            <a:r>
              <a:rPr lang="en-US" altLang="ko-KR"/>
              <a:t>. E </a:t>
            </a:r>
            <a:r>
              <a:rPr lang="ko-KR" altLang="en-US"/>
              <a:t>회복은 현재 프로젝트에서 추가된 기능이다</a:t>
            </a:r>
            <a:r>
              <a:rPr lang="en-US" altLang="ko-KR"/>
              <a:t>. </a:t>
            </a:r>
            <a:r>
              <a:rPr lang="ko-KR" altLang="en-US"/>
              <a:t>숫자 </a:t>
            </a:r>
            <a:r>
              <a:rPr lang="en-US" altLang="ko-KR"/>
              <a:t>1~3</a:t>
            </a:r>
            <a:r>
              <a:rPr lang="ko-KR" altLang="en-US"/>
              <a:t>은 동작 요청이며 현재 전환 조건을 따른다</a:t>
            </a:r>
            <a:r>
              <a:rPr lang="en-US" altLang="ko-KR"/>
              <a:t>. Space/Esc</a:t>
            </a:r>
            <a:r>
              <a:rPr lang="ko-KR" altLang="en-US"/>
              <a:t>는 보스 등장 연출 중 건너뛰기로도 쓰인다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993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6</a:t>
            </a:r>
            <a:r>
              <a:rPr lang="ko-KR" altLang="en-US"/>
              <a:t>장과 현재 </a:t>
            </a:r>
            <a:r>
              <a:rPr lang="en-US" altLang="ko-KR"/>
              <a:t>PassFanAttackCombat.cs, PassFanAttackVfx.cs, MountainFanAttackVfx </a:t>
            </a:r>
            <a:r>
              <a:rPr lang="ko-KR" altLang="en-US"/>
              <a:t>설정</a:t>
            </a:r>
            <a:r>
              <a:rPr lang="en-US" altLang="ko-KR"/>
              <a:t>. 1</a:t>
            </a:r>
            <a:r>
              <a:rPr lang="ko-KR" altLang="en-US"/>
              <a:t>타와 </a:t>
            </a:r>
            <a:r>
              <a:rPr lang="en-US" altLang="ko-KR"/>
              <a:t>3</a:t>
            </a:r>
            <a:r>
              <a:rPr lang="ko-KR" altLang="en-US"/>
              <a:t>타에 직접</a:t>
            </a:r>
            <a:r>
              <a:rPr lang="en-US" altLang="ko-KR"/>
              <a:t>·</a:t>
            </a:r>
            <a:r>
              <a:rPr lang="ko-KR" altLang="en-US"/>
              <a:t>바람 피해가 있고 </a:t>
            </a:r>
            <a:r>
              <a:rPr lang="en-US" altLang="ko-KR"/>
              <a:t>2</a:t>
            </a:r>
            <a:r>
              <a:rPr lang="ko-KR" altLang="en-US"/>
              <a:t>타는 직접 타격 중심이다</a:t>
            </a:r>
            <a:r>
              <a:rPr lang="en-US" altLang="ko-KR"/>
              <a:t>. </a:t>
            </a:r>
            <a:r>
              <a:rPr lang="ko-KR" altLang="en-US"/>
              <a:t>기준 피해는 각각 </a:t>
            </a:r>
            <a:r>
              <a:rPr lang="en-US" altLang="ko-KR"/>
              <a:t>22, 28, 40. </a:t>
            </a:r>
            <a:r>
              <a:rPr lang="ko-KR" altLang="en-US"/>
              <a:t>아래 그림은 현재 코드를 실행해 새로 촬영한 것이 아닌 보관된 효과 캡처다</a:t>
            </a:r>
            <a:r>
              <a:rPr lang="en-US" altLang="ko-KR"/>
              <a:t>. </a:t>
            </a:r>
            <a:r>
              <a:rPr lang="ko-KR" altLang="en-US"/>
              <a:t>출처</a:t>
            </a:r>
            <a:r>
              <a:rPr lang="en-US" altLang="ko-KR"/>
              <a:t>: Assets/Temp/WindWaveIntegration~/WindWave_Attack1.png, WindWave_Attack2.png, WindWave_Attack3.png.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625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MountainPass_Optimized.unity</a:t>
            </a:r>
            <a:r>
              <a:rPr lang="ko-KR" altLang="en-US"/>
              <a:t>의 </a:t>
            </a:r>
            <a:r>
              <a:rPr lang="en-US" altLang="ko-KR"/>
              <a:t>PassFanAttackDamageSettings </a:t>
            </a:r>
            <a:r>
              <a:rPr lang="ko-KR" altLang="en-US"/>
              <a:t>값과 </a:t>
            </a:r>
            <a:r>
              <a:rPr lang="en-US" altLang="ko-KR"/>
              <a:t>PassFanAttackCombat.cs</a:t>
            </a:r>
            <a:r>
              <a:rPr lang="ko-KR" altLang="en-US"/>
              <a:t>를 기준으로 한다</a:t>
            </a:r>
            <a:r>
              <a:rPr lang="en-US" altLang="ko-KR"/>
              <a:t>. attack1 baseDamage22 directWeight0.7 windWeight0.3, attack2 baseDamage28 directWeight1, attack3 baseDamage40 directWeight0.7 windWeight0.3. </a:t>
            </a:r>
            <a:r>
              <a:rPr lang="ko-KR" altLang="en-US"/>
              <a:t>표의 직접</a:t>
            </a:r>
            <a:r>
              <a:rPr lang="en-US" altLang="ko-KR"/>
              <a:t>·</a:t>
            </a:r>
            <a:r>
              <a:rPr lang="ko-KR" altLang="en-US"/>
              <a:t>바람 피해는 기준 피해량과 비율을 곱해 계산했다</a:t>
            </a:r>
            <a:r>
              <a:rPr lang="en-US" altLang="ko-KR"/>
              <a:t>. </a:t>
            </a:r>
            <a:r>
              <a:rPr lang="ko-KR" altLang="en-US"/>
              <a:t>코드상 같은 공격</a:t>
            </a:r>
            <a:r>
              <a:rPr lang="en-US" altLang="ko-KR"/>
              <a:t>·</a:t>
            </a:r>
            <a:r>
              <a:rPr lang="ko-KR" altLang="en-US"/>
              <a:t>동일 대상에 채널별 </a:t>
            </a:r>
            <a:r>
              <a:rPr lang="en-US" altLang="ko-KR"/>
              <a:t>1</a:t>
            </a:r>
            <a:r>
              <a:rPr lang="ko-KR" altLang="en-US"/>
              <a:t>회 적용하며 실제 충돌 조건 충족 여부에 따라 결과가 달라진다</a:t>
            </a:r>
            <a:r>
              <a:rPr lang="en-US" altLang="ko-KR"/>
              <a:t>. </a:t>
            </a:r>
            <a:r>
              <a:rPr lang="ko-KR" altLang="en-US"/>
              <a:t>개정본 </a:t>
            </a:r>
            <a:r>
              <a:rPr lang="en-US" altLang="ko-KR"/>
              <a:t>6.3</a:t>
            </a:r>
            <a:r>
              <a:rPr lang="ko-KR" altLang="en-US"/>
              <a:t>장의 별도 테스트 구현은 현재 씬으로 통합된 상태로 갱신했다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04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5.3, 6.2, 8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현재 </a:t>
            </a:r>
            <a:r>
              <a:rPr lang="en-US" altLang="ko-KR"/>
              <a:t>PassAnimationController.cs</a:t>
            </a:r>
            <a:r>
              <a:rPr lang="ko-KR" altLang="en-US"/>
              <a:t>는 </a:t>
            </a:r>
            <a:r>
              <a:rPr lang="en-US" altLang="ko-KR"/>
              <a:t>HEAVY_HIT, GET_UP, DEATH</a:t>
            </a:r>
            <a:r>
              <a:rPr lang="ko-KR" altLang="en-US"/>
              <a:t>를 처리하고 </a:t>
            </a:r>
            <a:r>
              <a:rPr lang="en-US" altLang="ko-KR"/>
              <a:t>PassGameFlow.cs</a:t>
            </a:r>
            <a:r>
              <a:rPr lang="ko-KR" altLang="en-US"/>
              <a:t>는 강피격 및 치명 피해를 실제 상태와 연결한다</a:t>
            </a:r>
            <a:r>
              <a:rPr lang="en-US" altLang="ko-KR"/>
              <a:t>. inputBufferSeconds</a:t>
            </a:r>
            <a:r>
              <a:rPr lang="ko-KR" altLang="en-US"/>
              <a:t>는 현재 씬에서 </a:t>
            </a:r>
            <a:r>
              <a:rPr lang="en-US" altLang="ko-KR"/>
              <a:t>0.15, </a:t>
            </a:r>
            <a:r>
              <a:rPr lang="ko-KR" altLang="en-US"/>
              <a:t>플레이어 </a:t>
            </a:r>
            <a:r>
              <a:rPr lang="en-US" altLang="ko-KR"/>
              <a:t>hitRecovery</a:t>
            </a:r>
            <a:r>
              <a:rPr lang="ko-KR" altLang="en-US"/>
              <a:t>는 </a:t>
            </a:r>
            <a:r>
              <a:rPr lang="en-US" altLang="ko-KR"/>
              <a:t>0.65. </a:t>
            </a:r>
            <a:r>
              <a:rPr lang="ko-KR" altLang="en-US"/>
              <a:t>현재 씬에서 연결된 </a:t>
            </a:r>
            <a:r>
              <a:rPr lang="en-US" altLang="ko-KR"/>
              <a:t>MountainActionTimings </a:t>
            </a:r>
            <a:r>
              <a:rPr lang="ko-KR" altLang="en-US"/>
              <a:t>및 </a:t>
            </a:r>
            <a:r>
              <a:rPr lang="en-US" altLang="ko-KR"/>
              <a:t>MountainPlayerReactions </a:t>
            </a:r>
            <a:r>
              <a:rPr lang="ko-KR" altLang="en-US"/>
              <a:t>설정을 따른다</a:t>
            </a:r>
            <a:r>
              <a:rPr lang="en-US" altLang="ko-KR"/>
              <a:t>. </a:t>
            </a:r>
            <a:r>
              <a:rPr lang="ko-KR" altLang="en-US"/>
              <a:t>특정 구르기 무적 비율은 공격 종류와 판정 구현에 따라 달라질 수 있어 단일 확정 규칙으로 표시하지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811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개정본 </a:t>
            </a:r>
            <a:r>
              <a:rPr lang="en-US" altLang="ko-KR"/>
              <a:t>8</a:t>
            </a:r>
            <a:r>
              <a:rPr lang="ko-KR" altLang="en-US"/>
              <a:t>장 이후의 프로젝트 추가 내용을 반영했다</a:t>
            </a:r>
            <a:r>
              <a:rPr lang="en-US" altLang="ko-KR"/>
              <a:t>. MountainPass_Optimized.unity</a:t>
            </a:r>
            <a:r>
              <a:rPr lang="ko-KR" altLang="en-US"/>
              <a:t>의 </a:t>
            </a:r>
            <a:r>
              <a:rPr lang="en-US" altLang="ko-KR"/>
              <a:t>PassGourdDrinking: maximumUses5, startingUses3, healAmount40. E </a:t>
            </a:r>
            <a:r>
              <a:rPr lang="ko-KR" altLang="en-US"/>
              <a:t>입력으로 사용하며 이동을 유지하는 상반신 레이어를 사용한다</a:t>
            </a:r>
            <a:r>
              <a:rPr lang="en-US" altLang="ko-KR"/>
              <a:t>. PassGameFlow.RestAtShrine</a:t>
            </a:r>
            <a:r>
              <a:rPr lang="ko-KR" altLang="en-US"/>
              <a:t>는 체력 회복과 </a:t>
            </a:r>
            <a:r>
              <a:rPr lang="en-US" altLang="ko-KR"/>
              <a:t>Refill</a:t>
            </a:r>
            <a:r>
              <a:rPr lang="ko-KR" altLang="en-US"/>
              <a:t>을 호출한다</a:t>
            </a:r>
            <a:r>
              <a:rPr lang="en-US" altLang="ko-KR"/>
              <a:t>. </a:t>
            </a:r>
            <a:r>
              <a:rPr lang="ko-KR" altLang="en-US"/>
              <a:t>전투 중에는 산신각 기도를 사용할 수 없고</a:t>
            </a:r>
            <a:r>
              <a:rPr lang="en-US" altLang="ko-KR"/>
              <a:t>, </a:t>
            </a:r>
            <a:r>
              <a:rPr lang="ko-KR" altLang="en-US"/>
              <a:t>호리병은 피격</a:t>
            </a:r>
            <a:r>
              <a:rPr lang="en-US" altLang="ko-KR"/>
              <a:t>·</a:t>
            </a:r>
            <a:r>
              <a:rPr lang="ko-KR" altLang="en-US"/>
              <a:t>공격 등 상태 전환에 의해 취소될 수 있다</a:t>
            </a:r>
            <a:r>
              <a:rPr lang="en-US" altLang="ko-KR"/>
              <a:t>. </a:t>
            </a:r>
            <a:r>
              <a:rPr lang="ko-KR" altLang="en-US"/>
              <a:t>출처 이미지</a:t>
            </a:r>
            <a:r>
              <a:rPr lang="en-US" altLang="ko-KR"/>
              <a:t>: Assets/Temp/MainSceneIntegration~/T_MainDrinking.png.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373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7</a:t>
            </a:r>
            <a:r>
              <a:rPr lang="ko-KR" altLang="en-US"/>
              <a:t>장과 현재 </a:t>
            </a:r>
            <a:r>
              <a:rPr lang="en-US" altLang="ko-KR"/>
              <a:t>PassBossPatternController.cs. </a:t>
            </a:r>
            <a:r>
              <a:rPr lang="ko-KR" altLang="en-US"/>
              <a:t>표시 이름 천하대장군 </a:t>
            </a:r>
            <a:r>
              <a:rPr lang="en-US" altLang="ko-KR"/>
              <a:t>· </a:t>
            </a:r>
            <a:r>
              <a:rPr lang="ko-KR" altLang="en-US"/>
              <a:t>산문의 수문장</a:t>
            </a:r>
            <a:r>
              <a:rPr lang="en-US" altLang="ko-KR"/>
              <a:t>. </a:t>
            </a:r>
            <a:r>
              <a:rPr lang="ko-KR" altLang="en-US"/>
              <a:t>현재 확장 컨트롤러가 본편 및 최적화 씬에 연결되어 있다</a:t>
            </a:r>
            <a:r>
              <a:rPr lang="en-US" altLang="ko-KR"/>
              <a:t>. </a:t>
            </a:r>
            <a:r>
              <a:rPr lang="ko-KR" altLang="en-US"/>
              <a:t>체력은 설정상 본체</a:t>
            </a:r>
            <a:r>
              <a:rPr lang="en-US" altLang="ko-KR"/>
              <a:t>420, </a:t>
            </a:r>
            <a:r>
              <a:rPr lang="ko-KR" altLang="en-US"/>
              <a:t>미니</a:t>
            </a:r>
            <a:r>
              <a:rPr lang="en-US" altLang="ko-KR"/>
              <a:t>60. </a:t>
            </a:r>
            <a:r>
              <a:rPr lang="ko-KR" altLang="en-US"/>
              <a:t>확장 컨트롤러는 </a:t>
            </a:r>
            <a:r>
              <a:rPr lang="en-US" altLang="ko-KR"/>
              <a:t>Enraged</a:t>
            </a:r>
            <a:r>
              <a:rPr lang="ko-KR" altLang="en-US"/>
              <a:t>를 </a:t>
            </a:r>
            <a:r>
              <a:rPr lang="en-US" altLang="ko-KR"/>
              <a:t>false</a:t>
            </a:r>
            <a:r>
              <a:rPr lang="ko-KR" altLang="en-US"/>
              <a:t>로 재정의하므로 개정본의 구형 </a:t>
            </a:r>
            <a:r>
              <a:rPr lang="en-US" altLang="ko-KR"/>
              <a:t>50% </a:t>
            </a:r>
            <a:r>
              <a:rPr lang="ko-KR" altLang="en-US"/>
              <a:t>격노 규칙을 현행 기본 규칙으로 제시하지 않는다</a:t>
            </a:r>
            <a:r>
              <a:rPr lang="en-US" altLang="ko-KR"/>
              <a:t>. </a:t>
            </a:r>
            <a:r>
              <a:rPr lang="ko-KR" altLang="en-US"/>
              <a:t>사진</a:t>
            </a:r>
            <a:r>
              <a:rPr lang="en-US" altLang="ko-KR"/>
              <a:t>: Assets/Temp/PursuitSlamBuild~/Test_NoseSteam.png.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231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PassBossPatternController.cs, PassBossPatternSettings.cs, </a:t>
            </a:r>
            <a:r>
              <a:rPr lang="ko-KR" altLang="en-US"/>
              <a:t>최적화 씬의 </a:t>
            </a:r>
            <a:r>
              <a:rPr lang="en-US" altLang="ko-KR"/>
              <a:t>settings </a:t>
            </a:r>
            <a:r>
              <a:rPr lang="ko-KR" altLang="en-US"/>
              <a:t>값을 근거로 구성했다</a:t>
            </a:r>
            <a:r>
              <a:rPr lang="en-US" altLang="ko-KR"/>
              <a:t>. </a:t>
            </a:r>
            <a:r>
              <a:rPr lang="ko-KR" altLang="en-US"/>
              <a:t>점프 본체 피해</a:t>
            </a:r>
            <a:r>
              <a:rPr lang="en-US" altLang="ko-KR"/>
              <a:t>20, </a:t>
            </a:r>
            <a:r>
              <a:rPr lang="ko-KR" altLang="en-US"/>
              <a:t>엎어지기</a:t>
            </a:r>
            <a:r>
              <a:rPr lang="en-US" altLang="ko-KR"/>
              <a:t>28, crack </a:t>
            </a:r>
            <a:r>
              <a:rPr lang="ko-KR" altLang="en-US"/>
              <a:t>피해</a:t>
            </a:r>
            <a:r>
              <a:rPr lang="en-US" altLang="ko-KR"/>
              <a:t>18 </a:t>
            </a:r>
            <a:r>
              <a:rPr lang="ko-KR" altLang="en-US"/>
              <a:t>및 </a:t>
            </a:r>
            <a:r>
              <a:rPr lang="en-US" altLang="ko-KR"/>
              <a:t>stepCount5. </a:t>
            </a:r>
            <a:r>
              <a:rPr lang="ko-KR" altLang="en-US"/>
              <a:t>추적 찍기는 별도 슬라이드에서 자세히 설명한다</a:t>
            </a:r>
            <a:r>
              <a:rPr lang="en-US" altLang="ko-KR"/>
              <a:t>. </a:t>
            </a:r>
            <a:r>
              <a:rPr lang="ko-KR" altLang="en-US"/>
              <a:t>공격 후 이동</a:t>
            </a:r>
            <a:r>
              <a:rPr lang="en-US" altLang="ko-KR"/>
              <a:t>·</a:t>
            </a:r>
            <a:r>
              <a:rPr lang="ko-KR" altLang="en-US"/>
              <a:t>구르기</a:t>
            </a:r>
            <a:r>
              <a:rPr lang="en-US" altLang="ko-KR"/>
              <a:t>·</a:t>
            </a:r>
            <a:r>
              <a:rPr lang="ko-KR" altLang="en-US"/>
              <a:t>반격의 역할은 기획서 </a:t>
            </a:r>
            <a:r>
              <a:rPr lang="en-US" altLang="ko-KR"/>
              <a:t>2</a:t>
            </a:r>
            <a:r>
              <a:rPr lang="ko-KR" altLang="en-US"/>
              <a:t>장과 </a:t>
            </a:r>
            <a:r>
              <a:rPr lang="en-US" altLang="ko-KR"/>
              <a:t>7</a:t>
            </a:r>
            <a:r>
              <a:rPr lang="ko-KR" altLang="en-US"/>
              <a:t>장의 전투 원칙을 따른다</a:t>
            </a:r>
            <a:r>
              <a:rPr lang="en-US" altLang="ko-KR"/>
              <a:t>. </a:t>
            </a:r>
            <a:r>
              <a:rPr lang="ko-KR" altLang="en-US"/>
              <a:t>표시 피해는 현재 작업값이며 플레이 밸런스 검증 완료를 의미하지 않는다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327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PassBossPursuitSlam.cs</a:t>
            </a:r>
            <a:r>
              <a:rPr lang="ko-KR" altLang="en-US"/>
              <a:t>와 </a:t>
            </a:r>
            <a:r>
              <a:rPr lang="en-US" altLang="ko-KR"/>
              <a:t>MountainPass_Optimized.unity pursuitSlam </a:t>
            </a:r>
            <a:r>
              <a:rPr lang="ko-KR" altLang="en-US"/>
              <a:t>설정</a:t>
            </a:r>
            <a:r>
              <a:rPr lang="en-US" altLang="ko-KR"/>
              <a:t>. windup1.5, trackingJumps2, trackingDamage20, heavyDamage28, bodyDamageMultiplier1.5, recovery7. </a:t>
            </a:r>
            <a:r>
              <a:rPr lang="ko-KR" altLang="en-US"/>
              <a:t>각 이륙 직전 플레이어 위치를 기준으로 유효 지면을 찾아 착지점을 확정한다</a:t>
            </a:r>
            <a:r>
              <a:rPr lang="en-US" altLang="ko-KR"/>
              <a:t>. </a:t>
            </a:r>
            <a:r>
              <a:rPr lang="ko-KR" altLang="en-US"/>
              <a:t>최종 직접 충돌과 충격파를 중복 적용하지 않는다</a:t>
            </a:r>
            <a:r>
              <a:rPr lang="en-US" altLang="ko-KR"/>
              <a:t>. </a:t>
            </a:r>
            <a:r>
              <a:rPr lang="ko-KR" altLang="en-US"/>
              <a:t>직접 몸체 피격</a:t>
            </a:r>
            <a:r>
              <a:rPr lang="en-US" altLang="ko-KR"/>
              <a:t>42</a:t>
            </a:r>
            <a:r>
              <a:rPr lang="ko-KR" altLang="en-US"/>
              <a:t>는 </a:t>
            </a:r>
            <a:r>
              <a:rPr lang="en-US" altLang="ko-KR"/>
              <a:t>28×1.5</a:t>
            </a:r>
            <a:r>
              <a:rPr lang="ko-KR" altLang="en-US"/>
              <a:t>로 계산한 값이다</a:t>
            </a:r>
            <a:r>
              <a:rPr lang="en-US" altLang="ko-KR"/>
              <a:t>. </a:t>
            </a:r>
            <a:r>
              <a:rPr lang="ko-KR" altLang="en-US"/>
              <a:t>사진</a:t>
            </a:r>
            <a:r>
              <a:rPr lang="en-US" altLang="ko-KR"/>
              <a:t>: Assets/Temp/PursuitSlamBuild~/Test_BackSlamDust.png.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236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최적화 씬 </a:t>
            </a:r>
            <a:r>
              <a:rPr lang="en-US" altLang="ko-KR"/>
              <a:t>summon </a:t>
            </a:r>
            <a:r>
              <a:rPr lang="ko-KR" altLang="en-US"/>
              <a:t>및 </a:t>
            </a:r>
            <a:r>
              <a:rPr lang="en-US" altLang="ko-KR"/>
              <a:t>linkedAttack </a:t>
            </a:r>
            <a:r>
              <a:rPr lang="ko-KR" altLang="en-US"/>
              <a:t>설정</a:t>
            </a:r>
            <a:r>
              <a:rPr lang="en-US" altLang="ko-KR"/>
              <a:t>, PassBossPatternController.cs </a:t>
            </a:r>
            <a:r>
              <a:rPr lang="ko-KR" altLang="en-US"/>
              <a:t>및 </a:t>
            </a:r>
            <a:r>
              <a:rPr lang="en-US" altLang="ko-KR"/>
              <a:t>PassBossLinkedAttack.cs</a:t>
            </a:r>
            <a:r>
              <a:rPr lang="ko-KR" altLang="en-US"/>
              <a:t>를 근거로 한다</a:t>
            </a:r>
            <a:r>
              <a:rPr lang="en-US" altLang="ko-KR"/>
              <a:t>. summon.requiredNormalAttacks3, spawnCount2, maximumAlive2, combat.minionHealth60. </a:t>
            </a:r>
            <a:r>
              <a:rPr lang="ko-KR" altLang="en-US"/>
              <a:t>연계 간격은 일반 공격</a:t>
            </a:r>
            <a:r>
              <a:rPr lang="en-US" altLang="ko-KR"/>
              <a:t>2~3</a:t>
            </a:r>
            <a:r>
              <a:rPr lang="ko-KR" altLang="en-US"/>
              <a:t>회</a:t>
            </a:r>
            <a:r>
              <a:rPr lang="en-US" altLang="ko-KR"/>
              <a:t>, </a:t>
            </a:r>
            <a:r>
              <a:rPr lang="ko-KR" altLang="en-US"/>
              <a:t>참여</a:t>
            </a:r>
            <a:r>
              <a:rPr lang="en-US" altLang="ko-KR"/>
              <a:t>2</a:t>
            </a:r>
            <a:r>
              <a:rPr lang="ko-KR" altLang="en-US"/>
              <a:t>체</a:t>
            </a:r>
            <a:r>
              <a:rPr lang="en-US" altLang="ko-KR"/>
              <a:t>, </a:t>
            </a:r>
            <a:r>
              <a:rPr lang="ko-KR" altLang="en-US"/>
              <a:t>순간이동 연기와 시간차 타격을 사용한다</a:t>
            </a:r>
            <a:r>
              <a:rPr lang="en-US" altLang="ko-KR"/>
              <a:t>. </a:t>
            </a:r>
            <a:r>
              <a:rPr lang="ko-KR" altLang="en-US"/>
              <a:t>구형 테스트의 이동 점프</a:t>
            </a:r>
            <a:r>
              <a:rPr lang="en-US" altLang="ko-KR"/>
              <a:t>3</a:t>
            </a:r>
            <a:r>
              <a:rPr lang="ko-KR" altLang="en-US"/>
              <a:t>회 누적 조건과 현재 일반 공격</a:t>
            </a:r>
            <a:r>
              <a:rPr lang="en-US" altLang="ko-KR"/>
              <a:t>3</a:t>
            </a:r>
            <a:r>
              <a:rPr lang="ko-KR" altLang="en-US"/>
              <a:t>회 조건을 구분했다</a:t>
            </a:r>
            <a:r>
              <a:rPr lang="en-US" altLang="ko-KR"/>
              <a:t>. </a:t>
            </a:r>
            <a:r>
              <a:rPr lang="ko-KR" altLang="en-US"/>
              <a:t>사진</a:t>
            </a:r>
            <a:r>
              <a:rPr lang="en-US" altLang="ko-KR"/>
              <a:t>: Assets/Temp/BossPatterns~/Test_LinkTeleportArrival.png.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325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9</a:t>
            </a:r>
            <a:r>
              <a:rPr lang="ko-KR" altLang="en-US"/>
              <a:t>장과 </a:t>
            </a:r>
            <a:r>
              <a:rPr lang="en-US" altLang="ko-KR"/>
              <a:t>PassHud.cs, PassGameFlow.cs</a:t>
            </a:r>
            <a:r>
              <a:rPr lang="ko-KR" altLang="en-US"/>
              <a:t>의 현재 상태</a:t>
            </a:r>
            <a:r>
              <a:rPr lang="en-US" altLang="ko-KR"/>
              <a:t>. uGUI</a:t>
            </a:r>
            <a:r>
              <a:rPr lang="ko-KR" altLang="en-US"/>
              <a:t>와 한국어 </a:t>
            </a:r>
            <a:r>
              <a:rPr lang="en-US" altLang="ko-KR"/>
              <a:t>TextMeshPro </a:t>
            </a:r>
            <a:r>
              <a:rPr lang="ko-KR" altLang="en-US"/>
              <a:t>기반</a:t>
            </a:r>
            <a:r>
              <a:rPr lang="en-US" altLang="ko-KR"/>
              <a:t>. </a:t>
            </a:r>
            <a:r>
              <a:rPr lang="ko-KR" altLang="en-US"/>
              <a:t>호리병 잔여 횟수와 회복량은 현행 </a:t>
            </a:r>
            <a:r>
              <a:rPr lang="en-US" altLang="ko-KR"/>
              <a:t>UI </a:t>
            </a:r>
            <a:r>
              <a:rPr lang="ko-KR" altLang="en-US"/>
              <a:t>추가 사항이다</a:t>
            </a:r>
            <a:r>
              <a:rPr lang="en-US" altLang="ko-KR"/>
              <a:t>. </a:t>
            </a:r>
            <a:r>
              <a:rPr lang="ko-KR" altLang="en-US"/>
              <a:t>구형 보스 격노 문구는 현행 확장 컨트롤러의 격노 비활성화와 구분해야 한다</a:t>
            </a:r>
            <a:r>
              <a:rPr lang="en-US" altLang="ko-KR"/>
              <a:t>. </a:t>
            </a:r>
            <a:r>
              <a:rPr lang="ko-KR" altLang="en-US"/>
              <a:t>인벤토리</a:t>
            </a:r>
            <a:r>
              <a:rPr lang="en-US" altLang="ko-KR"/>
              <a:t>·</a:t>
            </a:r>
            <a:r>
              <a:rPr lang="ko-KR" altLang="en-US"/>
              <a:t>퀘스트 목록</a:t>
            </a:r>
            <a:r>
              <a:rPr lang="en-US" altLang="ko-KR"/>
              <a:t>·</a:t>
            </a:r>
            <a:r>
              <a:rPr lang="ko-KR" altLang="en-US"/>
              <a:t>성장 트리</a:t>
            </a:r>
            <a:r>
              <a:rPr lang="en-US" altLang="ko-KR"/>
              <a:t>·</a:t>
            </a:r>
            <a:r>
              <a:rPr lang="ko-KR" altLang="en-US"/>
              <a:t>미니맵은 이번 시연의 범위에 포함하지 않는다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78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10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한국 전통 건축과 산악 자연</a:t>
            </a:r>
            <a:r>
              <a:rPr lang="en-US" altLang="ko-KR"/>
              <a:t>, </a:t>
            </a:r>
            <a:r>
              <a:rPr lang="ko-KR" altLang="en-US"/>
              <a:t>스타일라이즈드 캐릭터</a:t>
            </a:r>
            <a:r>
              <a:rPr lang="en-US" altLang="ko-KR"/>
              <a:t>·</a:t>
            </a:r>
            <a:r>
              <a:rPr lang="ko-KR" altLang="en-US"/>
              <a:t>장승을 사용한다</a:t>
            </a:r>
            <a:r>
              <a:rPr lang="en-US" altLang="ko-KR"/>
              <a:t>. </a:t>
            </a:r>
            <a:r>
              <a:rPr lang="ko-KR" altLang="en-US"/>
              <a:t>현재 환경</a:t>
            </a:r>
            <a:r>
              <a:rPr lang="en-US" altLang="ko-KR"/>
              <a:t>·</a:t>
            </a:r>
            <a:r>
              <a:rPr lang="ko-KR" altLang="en-US"/>
              <a:t>전투 효과 코드는 본편으로 통합되어 있으며 미래 음악 방향과는 분리한다</a:t>
            </a:r>
            <a:r>
              <a:rPr lang="en-US" altLang="ko-KR"/>
              <a:t>. PassAudio.cs</a:t>
            </a:r>
            <a:r>
              <a:rPr lang="ko-KR" altLang="en-US"/>
              <a:t>는 부채</a:t>
            </a:r>
            <a:r>
              <a:rPr lang="en-US" altLang="ko-KR"/>
              <a:t>·</a:t>
            </a:r>
            <a:r>
              <a:rPr lang="ko-KR" altLang="en-US"/>
              <a:t>피격</a:t>
            </a:r>
            <a:r>
              <a:rPr lang="en-US" altLang="ko-KR"/>
              <a:t>·</a:t>
            </a:r>
            <a:r>
              <a:rPr lang="ko-KR" altLang="en-US"/>
              <a:t>충격</a:t>
            </a:r>
            <a:r>
              <a:rPr lang="en-US" altLang="ko-KR"/>
              <a:t>·</a:t>
            </a:r>
            <a:r>
              <a:rPr lang="ko-KR" altLang="en-US"/>
              <a:t>종</a:t>
            </a:r>
            <a:r>
              <a:rPr lang="en-US" altLang="ko-KR"/>
              <a:t>·</a:t>
            </a:r>
            <a:r>
              <a:rPr lang="ko-KR" altLang="en-US"/>
              <a:t>산바람을 코드로 합성한다</a:t>
            </a:r>
            <a:r>
              <a:rPr lang="en-US" altLang="ko-KR"/>
              <a:t>. </a:t>
            </a:r>
            <a:r>
              <a:rPr lang="ko-KR" altLang="en-US"/>
              <a:t>전통 악기 기반 </a:t>
            </a:r>
            <a:r>
              <a:rPr lang="en-US" altLang="ko-KR"/>
              <a:t>BGM </a:t>
            </a:r>
            <a:r>
              <a:rPr lang="ko-KR" altLang="en-US"/>
              <a:t>및 최종 믹싱은 후속 작업이다</a:t>
            </a:r>
            <a:r>
              <a:rPr lang="en-US" altLang="ko-KR"/>
              <a:t>. </a:t>
            </a:r>
            <a:r>
              <a:rPr lang="ko-KR" altLang="en-US"/>
              <a:t>이미지</a:t>
            </a:r>
            <a:r>
              <a:rPr lang="en-US" altLang="ko-KR"/>
              <a:t>: Assets/Temp/SummitMistReveal~/Opening.png. </a:t>
            </a:r>
            <a:r>
              <a:rPr lang="ko-KR" altLang="en-US"/>
              <a:t>자산 보유는 실제 씬 사용과 동일하지 않다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3198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2026-10-26 </a:t>
            </a:r>
            <a:r>
              <a:rPr lang="ko-KR" altLang="en-US"/>
              <a:t>개정본과 </a:t>
            </a:r>
            <a:r>
              <a:rPr lang="en-US" altLang="ko-KR"/>
              <a:t>2026-10-27 </a:t>
            </a:r>
            <a:r>
              <a:rPr lang="ko-KR" altLang="en-US"/>
              <a:t>저장 상태 비교다</a:t>
            </a:r>
            <a:r>
              <a:rPr lang="en-US" altLang="ko-KR"/>
              <a:t>. </a:t>
            </a:r>
            <a:r>
              <a:rPr lang="ko-KR" altLang="en-US"/>
              <a:t>현재 빌드 활성 씬은 </a:t>
            </a:r>
            <a:r>
              <a:rPr lang="en-US" altLang="ko-KR"/>
              <a:t>ProjectSettings/EditorBuildSettings.asset</a:t>
            </a:r>
            <a:r>
              <a:rPr lang="ko-KR" altLang="en-US"/>
              <a:t>의 </a:t>
            </a:r>
            <a:r>
              <a:rPr lang="en-US" altLang="ko-KR"/>
              <a:t>MountainPass_Optimized.unity. </a:t>
            </a:r>
            <a:r>
              <a:rPr lang="ko-KR" altLang="en-US"/>
              <a:t>현재 최적화 씬에는 </a:t>
            </a:r>
            <a:r>
              <a:rPr lang="en-US" altLang="ko-KR"/>
              <a:t>PassFanAttackCombat, PassBossPatternController, PassAnimationController.reactionSettings, PassGourdDrinking </a:t>
            </a:r>
            <a:r>
              <a:rPr lang="ko-KR" altLang="en-US"/>
              <a:t>및 </a:t>
            </a:r>
            <a:r>
              <a:rPr lang="en-US" altLang="ko-KR"/>
              <a:t>PassGameFlow.gourd</a:t>
            </a:r>
            <a:r>
              <a:rPr lang="ko-KR" altLang="en-US"/>
              <a:t>가 활성 참조로 연결되어 있다</a:t>
            </a:r>
            <a:r>
              <a:rPr lang="en-US" altLang="ko-KR"/>
              <a:t>. </a:t>
            </a:r>
            <a:r>
              <a:rPr lang="ko-KR" altLang="en-US"/>
              <a:t>따라서 개정본의 별도 테스트 구분 및 </a:t>
            </a:r>
            <a:r>
              <a:rPr lang="en-US" altLang="ko-KR"/>
              <a:t>SampleScene </a:t>
            </a:r>
            <a:r>
              <a:rPr lang="ko-KR" altLang="en-US"/>
              <a:t>빌드 등록 설명은 현행 파일과 차이가 있다</a:t>
            </a:r>
            <a:r>
              <a:rPr lang="en-US" altLang="ko-KR"/>
              <a:t>. </a:t>
            </a:r>
            <a:r>
              <a:rPr lang="ko-KR" altLang="en-US"/>
              <a:t>모든 상태는 저장된 파일 근거이며 이번 작업에서 실행 검증은 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259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12.1</a:t>
            </a:r>
            <a:r>
              <a:rPr lang="ko-KR" altLang="en-US"/>
              <a:t>장의 완료 기준을 현행 통합 상태에 맞춰 정리했다</a:t>
            </a:r>
            <a:r>
              <a:rPr lang="en-US" altLang="ko-KR"/>
              <a:t>. </a:t>
            </a:r>
            <a:r>
              <a:rPr lang="ko-KR" altLang="en-US"/>
              <a:t>본편의 통합 연결 자체를 재작업 항목으로 제시하지 않고 정상적인 사용자 흐름 및 실행본 검증을 완료 조건으로 삼았다</a:t>
            </a:r>
            <a:r>
              <a:rPr lang="en-US" altLang="ko-KR"/>
              <a:t>. </a:t>
            </a:r>
            <a:r>
              <a:rPr lang="ko-KR" altLang="en-US"/>
              <a:t>현재 빌드 등록은 되어 있으나 이번 읽기 전용 확인에서는 빌드와 플레이 실행을 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6028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12.2</a:t>
            </a:r>
            <a:r>
              <a:rPr lang="ko-KR" altLang="en-US"/>
              <a:t>장의 의도를 유지하되 현재 완료된 통합 연결을 고려해 제안한 후속 순서다</a:t>
            </a:r>
            <a:r>
              <a:rPr lang="en-US" altLang="ko-KR"/>
              <a:t>. </a:t>
            </a:r>
            <a:r>
              <a:rPr lang="ko-KR" altLang="en-US"/>
              <a:t>이 순서는 새 일정 약속이나 구현 확정이 아닌 기획상 우선순위 제안이다</a:t>
            </a:r>
            <a:r>
              <a:rPr lang="en-US" altLang="ko-KR"/>
              <a:t>. </a:t>
            </a:r>
            <a:r>
              <a:rPr lang="ko-KR" altLang="en-US"/>
              <a:t>첫째 통합 전투 판정</a:t>
            </a:r>
            <a:r>
              <a:rPr lang="en-US" altLang="ko-KR"/>
              <a:t>·</a:t>
            </a:r>
            <a:r>
              <a:rPr lang="ko-KR" altLang="en-US"/>
              <a:t>패턴 밸런스</a:t>
            </a:r>
            <a:r>
              <a:rPr lang="en-US" altLang="ko-KR"/>
              <a:t>, </a:t>
            </a:r>
            <a:r>
              <a:rPr lang="ko-KR" altLang="en-US"/>
              <a:t>둘째 반복 플레이와 가독성</a:t>
            </a:r>
            <a:r>
              <a:rPr lang="en-US" altLang="ko-KR"/>
              <a:t>, </a:t>
            </a:r>
            <a:r>
              <a:rPr lang="ko-KR" altLang="en-US"/>
              <a:t>셋째 배포 실행 및 실제 성능</a:t>
            </a:r>
            <a:r>
              <a:rPr lang="en-US" altLang="ko-KR"/>
              <a:t>, </a:t>
            </a:r>
            <a:r>
              <a:rPr lang="ko-KR" altLang="en-US"/>
              <a:t>넷째 음악과 추가 도술 검토</a:t>
            </a:r>
            <a:r>
              <a:rPr lang="en-US" altLang="ko-KR"/>
              <a:t>. 21</a:t>
            </a:r>
            <a:r>
              <a:rPr lang="ko-KR" altLang="en-US"/>
              <a:t>일</a:t>
            </a:r>
            <a:r>
              <a:rPr lang="en-US" altLang="ko-KR"/>
              <a:t>·</a:t>
            </a:r>
            <a:r>
              <a:rPr lang="ko-KR" altLang="en-US"/>
              <a:t>하루</a:t>
            </a:r>
            <a:r>
              <a:rPr lang="en-US" altLang="ko-KR"/>
              <a:t>4~5</a:t>
            </a:r>
            <a:r>
              <a:rPr lang="ko-KR" altLang="en-US"/>
              <a:t>시간은 초안의 최초 목표이므로 잔여 일정으로 재사용하지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89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13</a:t>
            </a:r>
            <a:r>
              <a:rPr lang="ko-KR" altLang="en-US"/>
              <a:t>장과 </a:t>
            </a:r>
            <a:r>
              <a:rPr lang="en-US" altLang="ko-KR"/>
              <a:t>6.4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독립 도술 슬롯</a:t>
            </a:r>
            <a:r>
              <a:rPr lang="en-US" altLang="ko-KR"/>
              <a:t>·</a:t>
            </a:r>
            <a:r>
              <a:rPr lang="ko-KR" altLang="en-US"/>
              <a:t>마력</a:t>
            </a:r>
            <a:r>
              <a:rPr lang="en-US" altLang="ko-KR"/>
              <a:t>·</a:t>
            </a:r>
            <a:r>
              <a:rPr lang="ko-KR" altLang="en-US"/>
              <a:t>쿨타임 시스템</a:t>
            </a:r>
            <a:r>
              <a:rPr lang="en-US" altLang="ko-KR"/>
              <a:t>, </a:t>
            </a:r>
            <a:r>
              <a:rPr lang="ko-KR" altLang="en-US"/>
              <a:t>성장</a:t>
            </a:r>
            <a:r>
              <a:rPr lang="en-US" altLang="ko-KR"/>
              <a:t>·</a:t>
            </a:r>
            <a:r>
              <a:rPr lang="ko-KR" altLang="en-US"/>
              <a:t>퀘스트</a:t>
            </a:r>
            <a:r>
              <a:rPr lang="en-US" altLang="ko-KR"/>
              <a:t>·</a:t>
            </a:r>
            <a:r>
              <a:rPr lang="ko-KR" altLang="en-US"/>
              <a:t>수집과 다른 지역은 후속 기획이다</a:t>
            </a:r>
            <a:r>
              <a:rPr lang="en-US" altLang="ko-KR"/>
              <a:t>. </a:t>
            </a:r>
            <a:r>
              <a:rPr lang="ko-KR" altLang="en-US"/>
              <a:t>현재 부채 전투와 영적 전환 경험을 먼저 안정화한 다음 확장한다</a:t>
            </a:r>
            <a:r>
              <a:rPr lang="en-US" altLang="ko-KR"/>
              <a:t>. </a:t>
            </a:r>
            <a:r>
              <a:rPr lang="ko-KR" altLang="en-US"/>
              <a:t>출시 플랫폼과 저장</a:t>
            </a:r>
            <a:r>
              <a:rPr lang="en-US" altLang="ko-KR"/>
              <a:t>·</a:t>
            </a:r>
            <a:r>
              <a:rPr lang="ko-KR" altLang="en-US"/>
              <a:t>진행 구조는 미정이다</a:t>
            </a:r>
            <a:r>
              <a:rPr lang="en-US" altLang="ko-KR"/>
              <a:t>. </a:t>
            </a:r>
            <a:r>
              <a:rPr lang="ko-KR" altLang="en-US"/>
              <a:t>아래 내용은 구현 완료 목록이 아니다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554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 자료 전체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.md. </a:t>
            </a:r>
            <a:r>
              <a:rPr lang="ko-KR" altLang="en-US"/>
              <a:t>이미지 테마</a:t>
            </a:r>
            <a:r>
              <a:rPr lang="en-US" altLang="ko-KR"/>
              <a:t>: C:/Users/MBC/Downloads/cheonjiin-overview-background-v2.png. </a:t>
            </a:r>
            <a:r>
              <a:rPr lang="ko-KR" altLang="en-US"/>
              <a:t>저장 현황 확인 대상</a:t>
            </a:r>
            <a:r>
              <a:rPr lang="en-US" altLang="ko-KR"/>
              <a:t>: D:/project/ProjectCheon/Assets/Scenes/MountainPass/MountainPass.unity </a:t>
            </a:r>
            <a:r>
              <a:rPr lang="ko-KR" altLang="en-US"/>
              <a:t>및 </a:t>
            </a:r>
            <a:r>
              <a:rPr lang="en-US" altLang="ko-KR"/>
              <a:t>MountainPass_Optimized.unity; Assets/Scripts/MountainPass; Assets/Settings/MountainPass; Assets/Prefabs/MountainPass; ProjectSettings/EditorBuildSettings.asset; ProjectSettings/ProjectVersion.txt; Packages/manifest.json. </a:t>
            </a:r>
            <a:r>
              <a:rPr lang="ko-KR" altLang="en-US"/>
              <a:t>그림 출처는 각 슬라이드 노트에 기록했다</a:t>
            </a:r>
            <a:r>
              <a:rPr lang="en-US" altLang="ko-KR"/>
              <a:t>. </a:t>
            </a:r>
            <a:r>
              <a:rPr lang="ko-KR" altLang="en-US"/>
              <a:t>읽기 전용 조사로 프로젝트의 씬</a:t>
            </a:r>
            <a:r>
              <a:rPr lang="en-US" altLang="ko-KR"/>
              <a:t>·</a:t>
            </a:r>
            <a:r>
              <a:rPr lang="ko-KR" altLang="en-US"/>
              <a:t>스크립트</a:t>
            </a:r>
            <a:r>
              <a:rPr lang="en-US" altLang="ko-KR"/>
              <a:t>·</a:t>
            </a:r>
            <a:r>
              <a:rPr lang="ko-KR" altLang="en-US"/>
              <a:t>설정 및 원본 문서</a:t>
            </a:r>
            <a:r>
              <a:rPr lang="en-US" altLang="ko-KR"/>
              <a:t>·</a:t>
            </a:r>
            <a:r>
              <a:rPr lang="ko-KR" altLang="en-US"/>
              <a:t>이미지는 변경하지 않았다</a:t>
            </a:r>
            <a:r>
              <a:rPr lang="en-US" altLang="ko-KR"/>
              <a:t>. </a:t>
            </a:r>
            <a:r>
              <a:rPr lang="ko-KR" altLang="en-US"/>
              <a:t>보관 캡처는 새 실행 증거가 아니다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BA5DC-1E75-46B5-B4D1-633DC8C8BED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15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A17410-AD91-9628-9C36-911EAB42B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62B223-872E-B965-9F8D-44384319C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5CDCA-9316-9769-BE69-7DDBE7A7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40D7E5-40A7-5C0F-C5C3-A92FD969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B81A5C-5CDF-7E63-C0AD-C320ADC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71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FA763-EBB4-AB42-51E6-91C7F935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D0D0E2-4914-4B86-EC7B-E63A1DA6C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C950FF-848C-E3AF-3FD6-1995DBA0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AC0E3E-6B84-E638-BA3A-7F94EE48D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078EC8-EC00-C363-CCC0-533556E9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07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2CA6E-5A78-648F-CAFD-E0A14AE8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32971A-5501-086F-C993-A20A3774A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13E8A7-1187-0C79-8000-E68ECF9F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F1393-2CC0-E26F-3300-145E0471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A2B419-1719-C4EC-4028-C06CB6CE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56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0BDFF-3D60-FCF1-FEB1-7DBB27AB6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23133B-32CA-1663-D6D3-418B43060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35C9A6-7B22-434C-4799-54AAAAF41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39BC1D-5ADB-FC81-29D6-7D4672D6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E2D8EE-8868-3E7F-E654-237DA103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A0DCE7-225C-9C9A-042C-97FE1AC6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38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84F9F-79E8-5AA8-757B-D3F0A5B4A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1D4FA9-A6AA-642B-B8FA-9F8D6C7DE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368-F67A-67D6-47F2-43B9195C7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34AE65-36B7-C0F4-58F5-C1A4EDBF0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48AD92-552D-6C4B-D0AA-8D0D05AEF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686912-33C7-3E8A-3C70-DF745943C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FBA50C-CBF2-6A5F-084F-1FC6D22A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D9868F-0EEE-9A3F-C0B8-1F08729A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48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52556-C706-4F73-6D0C-87551A58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0231D1-ACA7-9CEF-767D-B013654B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B1B38C-1D56-EE8F-3DC2-C83CBC70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916B44-D46D-5AE5-ADC5-F874363A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00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5C953E-5F92-DF14-76BA-00BE1EE2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B83ADB-A9D5-C378-8846-A94C9BF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218522-FE07-F11C-5164-12943384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71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8F88D-4525-51DB-137B-50259CD19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533993-F9C1-283D-C304-6DFE874DC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C77716-3C63-3C13-9C37-CCD43EE0F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82E5DE-B254-077F-D076-5FD22091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713956-7968-2A90-9F75-2EA37C2EA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DC134D-6EE3-C75A-A95E-602275D6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670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D8640-5AD1-25D3-F09D-41B2F3D42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42291BA-D6B8-A321-B243-C8C7E14668A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4BCB2C-86C0-9BAA-82E6-3D62B69A5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200ECE-1BD7-0CD7-3970-BBAC2CE1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D26C46-CD9D-F306-070A-6E435816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6463D4-9BCC-C903-5D15-ADC9E5D3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19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2FD74-0BFF-CA32-FB83-6F9873F1D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D7CE2-8BD3-5586-DF38-845A54319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BC376-C4CB-FE89-BECB-2DC95D0A4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4BEA4-1799-AC63-B480-E932BC000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0A4563-6843-460B-5CA8-A6F4FBD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44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C2D735-3017-A48D-9257-73A6B3284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8A7B66-C443-872A-A3E1-AC54F9329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5E416-2879-F28B-8EA3-8DC21103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6ED6F-6EB3-7915-C790-2EC6E0C8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28FAE6-0964-D1D9-B000-3A7B2B48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5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1E0DE-029A-1377-8129-8338A5CF4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0A7E66-5C40-4359-039C-18CFA21EE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78D052-04C2-E0E9-A32E-E90889EE0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7B17F-E216-463F-A992-5B732FEF2C4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515C7B-F193-0376-960E-99D7DEE08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4B1C5B-6ADF-C799-9032-316F19EE2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2C6B4-8BC7-4522-9FC8-B981122A33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2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_1">
            <a:extLst>
              <a:ext uri="{FF2B5EF4-FFF2-40B4-BE49-F238E27FC236}">
                <a16:creationId xmlns:a16="http://schemas.microsoft.com/office/drawing/2014/main" id="{3E89F32B-26F8-2D33-61E5-81101D7F91A9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_1_2">
            <a:extLst>
              <a:ext uri="{FF2B5EF4-FFF2-40B4-BE49-F238E27FC236}">
                <a16:creationId xmlns:a16="http://schemas.microsoft.com/office/drawing/2014/main" id="{70518CED-F1D4-AD04-12ED-E93D9BDF0F93}"/>
              </a:ext>
            </a:extLst>
          </p:cNvPr>
          <p:cNvSpPr txBox="1"/>
          <p:nvPr/>
        </p:nvSpPr>
        <p:spPr>
          <a:xfrm>
            <a:off x="1905000" y="17653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64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천지인</a:t>
            </a:r>
          </a:p>
        </p:txBody>
      </p:sp>
      <p:sp>
        <p:nvSpPr>
          <p:cNvPr id="4" name="Text_1_3">
            <a:extLst>
              <a:ext uri="{FF2B5EF4-FFF2-40B4-BE49-F238E27FC236}">
                <a16:creationId xmlns:a16="http://schemas.microsoft.com/office/drawing/2014/main" id="{8B8A4E61-6C26-B5AF-41C4-BFBA27BA6FE2}"/>
              </a:ext>
            </a:extLst>
          </p:cNvPr>
          <p:cNvSpPr txBox="1"/>
          <p:nvPr/>
        </p:nvSpPr>
        <p:spPr>
          <a:xfrm>
            <a:off x="3175000" y="3060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2400">
                <a:solidFill>
                  <a:srgbClr val="A58348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天 地 人</a:t>
            </a:r>
          </a:p>
        </p:txBody>
      </p:sp>
      <p:sp>
        <p:nvSpPr>
          <p:cNvPr id="5" name="Text_1_4">
            <a:extLst>
              <a:ext uri="{FF2B5EF4-FFF2-40B4-BE49-F238E27FC236}">
                <a16:creationId xmlns:a16="http://schemas.microsoft.com/office/drawing/2014/main" id="{F1290AC7-2898-CC27-662D-DD2E1F95FC86}"/>
              </a:ext>
            </a:extLst>
          </p:cNvPr>
          <p:cNvSpPr txBox="1"/>
          <p:nvPr/>
        </p:nvSpPr>
        <p:spPr>
          <a:xfrm>
            <a:off x="2032000" y="38989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29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산문을 지키는 자</a:t>
            </a:r>
          </a:p>
        </p:txBody>
      </p:sp>
      <p:sp>
        <p:nvSpPr>
          <p:cNvPr id="6" name="Text_1_5">
            <a:extLst>
              <a:ext uri="{FF2B5EF4-FFF2-40B4-BE49-F238E27FC236}">
                <a16:creationId xmlns:a16="http://schemas.microsoft.com/office/drawing/2014/main" id="{90AA06F1-4ACC-2A5D-B30A-F9C1EF9D7EAE}"/>
              </a:ext>
            </a:extLst>
          </p:cNvPr>
          <p:cNvSpPr txBox="1"/>
          <p:nvPr/>
        </p:nvSpPr>
        <p:spPr>
          <a:xfrm>
            <a:off x="2286000" y="46355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한국 설화 판타지 액션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RPG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_1_6">
            <a:extLst>
              <a:ext uri="{FF2B5EF4-FFF2-40B4-BE49-F238E27FC236}">
                <a16:creationId xmlns:a16="http://schemas.microsoft.com/office/drawing/2014/main" id="{AA1A161C-211F-76FB-BB44-E1389BE1A824}"/>
              </a:ext>
            </a:extLst>
          </p:cNvPr>
          <p:cNvSpPr txBox="1"/>
          <p:nvPr/>
        </p:nvSpPr>
        <p:spPr>
          <a:xfrm>
            <a:off x="3175000" y="54864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140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 부채   김민성</a:t>
            </a:r>
          </a:p>
        </p:txBody>
      </p:sp>
      <p:sp>
        <p:nvSpPr>
          <p:cNvPr id="8" name="Text_1_7">
            <a:extLst>
              <a:ext uri="{FF2B5EF4-FFF2-40B4-BE49-F238E27FC236}">
                <a16:creationId xmlns:a16="http://schemas.microsoft.com/office/drawing/2014/main" id="{673979BC-26E2-4C6A-06D3-99A3B9EA0B65}"/>
              </a:ext>
            </a:extLst>
          </p:cNvPr>
          <p:cNvSpPr txBox="1"/>
          <p:nvPr/>
        </p:nvSpPr>
        <p:spPr>
          <a:xfrm>
            <a:off x="2921000" y="5918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기획서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v0.2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2026.10.27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현황 반영</a:t>
            </a:r>
          </a:p>
        </p:txBody>
      </p:sp>
    </p:spTree>
    <p:extLst>
      <p:ext uri="{BB962C8B-B14F-4D97-AF65-F5344CB8AC3E}">
        <p14:creationId xmlns:p14="http://schemas.microsoft.com/office/powerpoint/2010/main" val="414353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_1">
            <a:extLst>
              <a:ext uri="{FF2B5EF4-FFF2-40B4-BE49-F238E27FC236}">
                <a16:creationId xmlns:a16="http://schemas.microsoft.com/office/drawing/2014/main" id="{DAEF0CB9-5072-BC3A-369D-9C80C36812D1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프로젝트 개요</a:t>
            </a:r>
          </a:p>
        </p:txBody>
      </p:sp>
      <p:sp>
        <p:nvSpPr>
          <p:cNvPr id="3" name="Text_2_2">
            <a:extLst>
              <a:ext uri="{FF2B5EF4-FFF2-40B4-BE49-F238E27FC236}">
                <a16:creationId xmlns:a16="http://schemas.microsoft.com/office/drawing/2014/main" id="{083B1847-FC2F-A8ED-0789-F9E7A265CFE6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_3">
            <a:extLst>
              <a:ext uri="{FF2B5EF4-FFF2-40B4-BE49-F238E27FC236}">
                <a16:creationId xmlns:a16="http://schemas.microsoft.com/office/drawing/2014/main" id="{10AC8AD7-EA5E-FEE6-2B10-F7AB7BB5A72C}"/>
              </a:ext>
            </a:extLst>
          </p:cNvPr>
          <p:cNvSpPr txBox="1"/>
          <p:nvPr/>
        </p:nvSpPr>
        <p:spPr>
          <a:xfrm>
            <a:off x="863600" y="17653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9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부채를 든 견습 도사가
영적 산문 너머의 장승에게 도전한다</a:t>
            </a:r>
          </a:p>
        </p:txBody>
      </p:sp>
      <p:graphicFrame>
        <p:nvGraphicFramePr>
          <p:cNvPr id="5" name="Table_2">
            <a:extLst>
              <a:ext uri="{FF2B5EF4-FFF2-40B4-BE49-F238E27FC236}">
                <a16:creationId xmlns:a16="http://schemas.microsoft.com/office/drawing/2014/main" id="{E9047C86-EF2E-BBCB-3ED9-426896E10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62567"/>
              </p:ext>
            </p:extLst>
          </p:nvPr>
        </p:nvGraphicFramePr>
        <p:xfrm>
          <a:off x="863600" y="3340100"/>
          <a:ext cx="10464800" cy="224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1219640533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314173431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기획 방향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0564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장르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3D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전술형 액션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RPG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13726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세계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주인공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한국 설화 판타지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부채를 사용하는 견습 도사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136518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시연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산길 탐색과 장승 수문장 보스전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855606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인칭 자유 시점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PC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키보드와 마우스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463519"/>
                  </a:ext>
                </a:extLst>
              </a:tr>
            </a:tbl>
          </a:graphicData>
        </a:graphic>
      </p:graphicFrame>
      <p:sp>
        <p:nvSpPr>
          <p:cNvPr id="6" name="Text_2_5">
            <a:extLst>
              <a:ext uri="{FF2B5EF4-FFF2-40B4-BE49-F238E27FC236}">
                <a16:creationId xmlns:a16="http://schemas.microsoft.com/office/drawing/2014/main" id="{C06EF95A-41B0-6695-BE57-D0F17810E8F9}"/>
              </a:ext>
            </a:extLst>
          </p:cNvPr>
          <p:cNvSpPr txBox="1"/>
          <p:nvPr/>
        </p:nvSpPr>
        <p:spPr>
          <a:xfrm>
            <a:off x="863600" y="58547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Unity 6000.3.14f1 · URP 17.3.0    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출시 플랫폼과 시연 분량은 추후 확정</a:t>
            </a:r>
          </a:p>
        </p:txBody>
      </p:sp>
    </p:spTree>
    <p:extLst>
      <p:ext uri="{BB962C8B-B14F-4D97-AF65-F5344CB8AC3E}">
        <p14:creationId xmlns:p14="http://schemas.microsoft.com/office/powerpoint/2010/main" val="3196769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3_1">
            <a:extLst>
              <a:ext uri="{FF2B5EF4-FFF2-40B4-BE49-F238E27FC236}">
                <a16:creationId xmlns:a16="http://schemas.microsoft.com/office/drawing/2014/main" id="{12D12853-AB99-F901-2D19-1BFD5A5873F2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한국적인 사물과 플레이의 연결</a:t>
            </a:r>
          </a:p>
        </p:txBody>
      </p:sp>
      <p:sp>
        <p:nvSpPr>
          <p:cNvPr id="3" name="Text_3_2">
            <a:extLst>
              <a:ext uri="{FF2B5EF4-FFF2-40B4-BE49-F238E27FC236}">
                <a16:creationId xmlns:a16="http://schemas.microsoft.com/office/drawing/2014/main" id="{3D28590D-CA7D-B7A7-3992-9E3F6C16B933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3_3">
            <a:extLst>
              <a:ext uri="{FF2B5EF4-FFF2-40B4-BE49-F238E27FC236}">
                <a16:creationId xmlns:a16="http://schemas.microsoft.com/office/drawing/2014/main" id="{EF304E2B-DA5F-B220-1689-455876D4DB2A}"/>
              </a:ext>
            </a:extLst>
          </p:cNvPr>
          <p:cNvSpPr txBox="1"/>
          <p:nvPr/>
        </p:nvSpPr>
        <p:spPr>
          <a:xfrm>
            <a:off x="863600" y="1854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견습 도사와 부채</a:t>
            </a:r>
          </a:p>
        </p:txBody>
      </p:sp>
      <p:sp>
        <p:nvSpPr>
          <p:cNvPr id="5" name="Text_3_4">
            <a:extLst>
              <a:ext uri="{FF2B5EF4-FFF2-40B4-BE49-F238E27FC236}">
                <a16:creationId xmlns:a16="http://schemas.microsoft.com/office/drawing/2014/main" id="{2DBC941C-4C59-0C1B-AC74-19345089819B}"/>
              </a:ext>
            </a:extLst>
          </p:cNvPr>
          <p:cNvSpPr txBox="1"/>
          <p:nvPr/>
        </p:nvSpPr>
        <p:spPr>
          <a:xfrm>
            <a:off x="4648200" y="1841500"/>
            <a:ext cx="657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부채 연격과 바람으로 싸우며
공격을 이어갈지 회피할지 판단한다</a:t>
            </a:r>
          </a:p>
        </p:txBody>
      </p:sp>
      <p:sp>
        <p:nvSpPr>
          <p:cNvPr id="6" name="Text_3_5">
            <a:extLst>
              <a:ext uri="{FF2B5EF4-FFF2-40B4-BE49-F238E27FC236}">
                <a16:creationId xmlns:a16="http://schemas.microsoft.com/office/drawing/2014/main" id="{C96D504D-C521-544D-918A-45D3F044C78E}"/>
              </a:ext>
            </a:extLst>
          </p:cNvPr>
          <p:cNvSpPr txBox="1"/>
          <p:nvPr/>
        </p:nvSpPr>
        <p:spPr>
          <a:xfrm>
            <a:off x="863600" y="318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산신각의 가호</a:t>
            </a:r>
          </a:p>
        </p:txBody>
      </p:sp>
      <p:sp>
        <p:nvSpPr>
          <p:cNvPr id="7" name="Text_3_6">
            <a:extLst>
              <a:ext uri="{FF2B5EF4-FFF2-40B4-BE49-F238E27FC236}">
                <a16:creationId xmlns:a16="http://schemas.microsoft.com/office/drawing/2014/main" id="{DD5019E8-8F70-DE2F-1385-0D120132348A}"/>
              </a:ext>
            </a:extLst>
          </p:cNvPr>
          <p:cNvSpPr txBox="1"/>
          <p:nvPr/>
        </p:nvSpPr>
        <p:spPr>
          <a:xfrm>
            <a:off x="4648200" y="3175000"/>
            <a:ext cx="657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기도로 회복하고 다시 도전하는
수련의 거점</a:t>
            </a:r>
          </a:p>
        </p:txBody>
      </p:sp>
      <p:sp>
        <p:nvSpPr>
          <p:cNvPr id="8" name="Text_3_7">
            <a:extLst>
              <a:ext uri="{FF2B5EF4-FFF2-40B4-BE49-F238E27FC236}">
                <a16:creationId xmlns:a16="http://schemas.microsoft.com/office/drawing/2014/main" id="{A96C00EE-4265-31EA-0923-29355187858D}"/>
              </a:ext>
            </a:extLst>
          </p:cNvPr>
          <p:cNvSpPr txBox="1"/>
          <p:nvPr/>
        </p:nvSpPr>
        <p:spPr>
          <a:xfrm>
            <a:off x="863600" y="4521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장승 수문장</a:t>
            </a:r>
          </a:p>
        </p:txBody>
      </p:sp>
      <p:sp>
        <p:nvSpPr>
          <p:cNvPr id="9" name="Text_3_8">
            <a:extLst>
              <a:ext uri="{FF2B5EF4-FFF2-40B4-BE49-F238E27FC236}">
                <a16:creationId xmlns:a16="http://schemas.microsoft.com/office/drawing/2014/main" id="{315B9541-34B4-C1CB-94DE-35B230E40405}"/>
              </a:ext>
            </a:extLst>
          </p:cNvPr>
          <p:cNvSpPr txBox="1"/>
          <p:nvPr/>
        </p:nvSpPr>
        <p:spPr>
          <a:xfrm>
            <a:off x="4648200" y="4508500"/>
            <a:ext cx="657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산문을 지키는 존재의 전조를 읽고
회피 뒤 반격 기회를 잡는 첫 관문</a:t>
            </a:r>
          </a:p>
        </p:txBody>
      </p:sp>
    </p:spTree>
    <p:extLst>
      <p:ext uri="{BB962C8B-B14F-4D97-AF65-F5344CB8AC3E}">
        <p14:creationId xmlns:p14="http://schemas.microsoft.com/office/powerpoint/2010/main" val="85708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4_1">
            <a:extLst>
              <a:ext uri="{FF2B5EF4-FFF2-40B4-BE49-F238E27FC236}">
                <a16:creationId xmlns:a16="http://schemas.microsoft.com/office/drawing/2014/main" id="{7E153A95-C77F-0011-2C55-6A62981A591C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현실과 영적 세계</a:t>
            </a:r>
          </a:p>
        </p:txBody>
      </p:sp>
      <p:sp>
        <p:nvSpPr>
          <p:cNvPr id="3" name="Text_4_2">
            <a:extLst>
              <a:ext uri="{FF2B5EF4-FFF2-40B4-BE49-F238E27FC236}">
                <a16:creationId xmlns:a16="http://schemas.microsoft.com/office/drawing/2014/main" id="{2DFA849E-4F3A-CD83-3BC9-DB875C546880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04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4_3">
            <a:extLst>
              <a:ext uri="{FF2B5EF4-FFF2-40B4-BE49-F238E27FC236}">
                <a16:creationId xmlns:a16="http://schemas.microsoft.com/office/drawing/2014/main" id="{C4BA7FEA-0A76-2449-64DA-783244A2FB1B}"/>
              </a:ext>
            </a:extLst>
          </p:cNvPr>
          <p:cNvSpPr txBox="1"/>
          <p:nvPr/>
        </p:nvSpPr>
        <p:spPr>
          <a:xfrm>
            <a:off x="863600" y="16002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현실의 수련지</a:t>
            </a:r>
          </a:p>
        </p:txBody>
      </p:sp>
      <p:sp>
        <p:nvSpPr>
          <p:cNvPr id="5" name="Text_4_4">
            <a:extLst>
              <a:ext uri="{FF2B5EF4-FFF2-40B4-BE49-F238E27FC236}">
                <a16:creationId xmlns:a16="http://schemas.microsoft.com/office/drawing/2014/main" id="{2081E20D-B4A3-5E80-82EE-99F89CE2FDFA}"/>
              </a:ext>
            </a:extLst>
          </p:cNvPr>
          <p:cNvSpPr txBox="1"/>
          <p:nvPr/>
        </p:nvSpPr>
        <p:spPr>
          <a:xfrm>
            <a:off x="6324600" y="16002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산문 너머의 영적 분위기</a:t>
            </a:r>
          </a:p>
        </p:txBody>
      </p:sp>
      <p:pic>
        <p:nvPicPr>
          <p:cNvPr id="7" name="Picture_4_5" descr="산신각과 소나무 · 프로젝트 보관 캡처; Assets/Temp/SummitMistReveal~/Summit.png">
            <a:extLst>
              <a:ext uri="{FF2B5EF4-FFF2-40B4-BE49-F238E27FC236}">
                <a16:creationId xmlns:a16="http://schemas.microsoft.com/office/drawing/2014/main" id="{266D06F6-FC29-E2E5-4D4F-EBE3BB7D62C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06" y="2197100"/>
            <a:ext cx="4802188" cy="3073400"/>
          </a:xfrm>
          <a:prstGeom prst="rect">
            <a:avLst/>
          </a:prstGeom>
        </p:spPr>
      </p:pic>
      <p:sp>
        <p:nvSpPr>
          <p:cNvPr id="8" name="Text_4_6">
            <a:extLst>
              <a:ext uri="{FF2B5EF4-FFF2-40B4-BE49-F238E27FC236}">
                <a16:creationId xmlns:a16="http://schemas.microsoft.com/office/drawing/2014/main" id="{C4CB59FF-9E65-2B81-E821-5F61C05749F3}"/>
              </a:ext>
            </a:extLst>
          </p:cNvPr>
          <p:cNvSpPr txBox="1"/>
          <p:nvPr/>
        </p:nvSpPr>
        <p:spPr>
          <a:xfrm>
            <a:off x="863600" y="53721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산신각과 소나무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  <p:pic>
        <p:nvPicPr>
          <p:cNvPr id="10" name="Picture_4_7" descr="보스전 공간 · 과거 테스트 캡처; Assets/Temp/BossPatterns~/Test_BossPatterns_Play.png">
            <a:extLst>
              <a:ext uri="{FF2B5EF4-FFF2-40B4-BE49-F238E27FC236}">
                <a16:creationId xmlns:a16="http://schemas.microsoft.com/office/drawing/2014/main" id="{F0EB7104-7D98-F0F3-BE20-8F5AB40E72D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326481"/>
            <a:ext cx="5003800" cy="2814638"/>
          </a:xfrm>
          <a:prstGeom prst="rect">
            <a:avLst/>
          </a:prstGeom>
        </p:spPr>
      </p:pic>
      <p:sp>
        <p:nvSpPr>
          <p:cNvPr id="11" name="Text_4_8">
            <a:extLst>
              <a:ext uri="{FF2B5EF4-FFF2-40B4-BE49-F238E27FC236}">
                <a16:creationId xmlns:a16="http://schemas.microsoft.com/office/drawing/2014/main" id="{67A37734-6C17-799A-ABF2-FA9E05262477}"/>
              </a:ext>
            </a:extLst>
          </p:cNvPr>
          <p:cNvSpPr txBox="1"/>
          <p:nvPr/>
        </p:nvSpPr>
        <p:spPr>
          <a:xfrm>
            <a:off x="6324600" y="53721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보스전 공간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과거 테스트 캡처</a:t>
            </a:r>
          </a:p>
        </p:txBody>
      </p:sp>
      <p:sp>
        <p:nvSpPr>
          <p:cNvPr id="12" name="Text_4_9">
            <a:extLst>
              <a:ext uri="{FF2B5EF4-FFF2-40B4-BE49-F238E27FC236}">
                <a16:creationId xmlns:a16="http://schemas.microsoft.com/office/drawing/2014/main" id="{B205ABC0-496C-517F-754B-1DC95E498514}"/>
              </a:ext>
            </a:extLst>
          </p:cNvPr>
          <p:cNvSpPr txBox="1"/>
          <p:nvPr/>
        </p:nvSpPr>
        <p:spPr>
          <a:xfrm>
            <a:off x="863600" y="58674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현재는 같은 지형의 환경 전환을 구현했다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영계 전용 지형과 포털 미리보기는 후속 범위다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15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5_1">
            <a:extLst>
              <a:ext uri="{FF2B5EF4-FFF2-40B4-BE49-F238E27FC236}">
                <a16:creationId xmlns:a16="http://schemas.microsoft.com/office/drawing/2014/main" id="{7A7B0A3D-1B4B-50B8-8569-F2023ECE0191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현재 시연의 진행 흐름</a:t>
            </a:r>
          </a:p>
        </p:txBody>
      </p:sp>
      <p:sp>
        <p:nvSpPr>
          <p:cNvPr id="3" name="Text_5_2">
            <a:extLst>
              <a:ext uri="{FF2B5EF4-FFF2-40B4-BE49-F238E27FC236}">
                <a16:creationId xmlns:a16="http://schemas.microsoft.com/office/drawing/2014/main" id="{CA5A5D4E-F18C-3F0C-C485-9FFFA438499E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05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5">
            <a:extLst>
              <a:ext uri="{FF2B5EF4-FFF2-40B4-BE49-F238E27FC236}">
                <a16:creationId xmlns:a16="http://schemas.microsoft.com/office/drawing/2014/main" id="{FC12490B-27E2-AF4B-D4E0-AD0E8B066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173169"/>
              </p:ext>
            </p:extLst>
          </p:nvPr>
        </p:nvGraphicFramePr>
        <p:xfrm>
          <a:off x="863600" y="1701800"/>
          <a:ext cx="10464800" cy="364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8724705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478510934"/>
                    </a:ext>
                  </a:extLst>
                </a:gridCol>
                <a:gridCol w="5537200">
                  <a:extLst>
                    <a:ext uri="{9D8B030D-6E8A-4147-A177-3AD203B41FA5}">
                      <a16:colId xmlns:a16="http://schemas.microsoft.com/office/drawing/2014/main" val="2686470195"/>
                    </a:ext>
                  </a:extLst>
                </a:gridCol>
              </a:tblGrid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 행동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경험과 시스템 반응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58933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01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산길 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등불을 따라 오르기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목표와 거리 안내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안개 속 접근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93663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02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산신각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기도하기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체력 회복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충전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거점 갱신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769087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03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영적 산문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문을 통과하기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 전환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등장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퇴로 차단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78983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04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수문장 전투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회피와 부채 연격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전조를 읽고 후딜레이에 반격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198181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05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재도전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승패 확인 후 재시작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거점 재도전 또는 산길 처음부터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225069"/>
                  </a:ext>
                </a:extLst>
              </a:tr>
            </a:tbl>
          </a:graphicData>
        </a:graphic>
      </p:graphicFrame>
      <p:sp>
        <p:nvSpPr>
          <p:cNvPr id="5" name="Text_5_4">
            <a:extLst>
              <a:ext uri="{FF2B5EF4-FFF2-40B4-BE49-F238E27FC236}">
                <a16:creationId xmlns:a16="http://schemas.microsoft.com/office/drawing/2014/main" id="{A269884D-6E1A-6887-E1F0-7476A4FACDF9}"/>
              </a:ext>
            </a:extLst>
          </p:cNvPr>
          <p:cNvSpPr txBox="1"/>
          <p:nvPr/>
        </p:nvSpPr>
        <p:spPr>
          <a:xfrm>
            <a:off x="863600" y="56007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빠른 시연은 시작 화면의 「수문장에게 도전」으로 바로 보스전에 진입</a:t>
            </a:r>
          </a:p>
        </p:txBody>
      </p:sp>
    </p:spTree>
    <p:extLst>
      <p:ext uri="{BB962C8B-B14F-4D97-AF65-F5344CB8AC3E}">
        <p14:creationId xmlns:p14="http://schemas.microsoft.com/office/powerpoint/2010/main" val="307911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6_1">
            <a:extLst>
              <a:ext uri="{FF2B5EF4-FFF2-40B4-BE49-F238E27FC236}">
                <a16:creationId xmlns:a16="http://schemas.microsoft.com/office/drawing/2014/main" id="{A4BC7647-9021-6314-50F8-7A285AB3BFB2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산길 탐색과 산신각</a:t>
            </a:r>
          </a:p>
        </p:txBody>
      </p:sp>
      <p:sp>
        <p:nvSpPr>
          <p:cNvPr id="3" name="Text_6_2">
            <a:extLst>
              <a:ext uri="{FF2B5EF4-FFF2-40B4-BE49-F238E27FC236}">
                <a16:creationId xmlns:a16="http://schemas.microsoft.com/office/drawing/2014/main" id="{A705C3CB-340C-F4C7-327D-4EFD8B07966B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06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6_3">
            <a:extLst>
              <a:ext uri="{FF2B5EF4-FFF2-40B4-BE49-F238E27FC236}">
                <a16:creationId xmlns:a16="http://schemas.microsoft.com/office/drawing/2014/main" id="{82AACB4C-FFA9-EC16-6D1D-9760E574EBD2}"/>
              </a:ext>
            </a:extLst>
          </p:cNvPr>
          <p:cNvSpPr txBox="1"/>
          <p:nvPr/>
        </p:nvSpPr>
        <p:spPr>
          <a:xfrm>
            <a:off x="863600" y="1790700"/>
            <a:ext cx="4406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등불이 이끄는 오르막</a:t>
            </a:r>
          </a:p>
        </p:txBody>
      </p:sp>
      <p:sp>
        <p:nvSpPr>
          <p:cNvPr id="5" name="Text_6_4">
            <a:extLst>
              <a:ext uri="{FF2B5EF4-FFF2-40B4-BE49-F238E27FC236}">
                <a16:creationId xmlns:a16="http://schemas.microsoft.com/office/drawing/2014/main" id="{5083AE1F-8F38-093D-124D-6D0E5B04C088}"/>
              </a:ext>
            </a:extLst>
          </p:cNvPr>
          <p:cNvSpPr txBox="1"/>
          <p:nvPr/>
        </p:nvSpPr>
        <p:spPr>
          <a:xfrm>
            <a:off x="863600" y="2286000"/>
            <a:ext cx="4406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계단과 목적지 표시로 길을 안내한다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
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높이에 따라 밝기와 안개를 바꾼다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_6_5">
            <a:extLst>
              <a:ext uri="{FF2B5EF4-FFF2-40B4-BE49-F238E27FC236}">
                <a16:creationId xmlns:a16="http://schemas.microsoft.com/office/drawing/2014/main" id="{1669C6E7-C60E-B80D-A060-B89DC2CD79F9}"/>
              </a:ext>
            </a:extLst>
          </p:cNvPr>
          <p:cNvSpPr txBox="1"/>
          <p:nvPr/>
        </p:nvSpPr>
        <p:spPr>
          <a:xfrm>
            <a:off x="863600" y="3594100"/>
            <a:ext cx="4406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수련의 거점</a:t>
            </a:r>
          </a:p>
        </p:txBody>
      </p:sp>
      <p:sp>
        <p:nvSpPr>
          <p:cNvPr id="7" name="Text_6_6">
            <a:extLst>
              <a:ext uri="{FF2B5EF4-FFF2-40B4-BE49-F238E27FC236}">
                <a16:creationId xmlns:a16="http://schemas.microsoft.com/office/drawing/2014/main" id="{D5CBCA7D-3FEB-3428-0513-D19700062AEC}"/>
              </a:ext>
            </a:extLst>
          </p:cNvPr>
          <p:cNvSpPr txBox="1"/>
          <p:nvPr/>
        </p:nvSpPr>
        <p:spPr>
          <a:xfrm>
            <a:off x="863600" y="4089400"/>
            <a:ext cx="4406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산신각에서 약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1.2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동안 기도한다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
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회복과 체크포인트 갱신을 함께 제공한다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Picture_6_7" descr="산길 시작 구간 · 프로젝트 보관 캡처; Assets/Temp/SummitMistReveal~/Start.png">
            <a:extLst>
              <a:ext uri="{FF2B5EF4-FFF2-40B4-BE49-F238E27FC236}">
                <a16:creationId xmlns:a16="http://schemas.microsoft.com/office/drawing/2014/main" id="{7FC50CAD-B89E-B6B1-B782-142D4F1BC76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300" y="1838198"/>
            <a:ext cx="5626100" cy="3600704"/>
          </a:xfrm>
          <a:prstGeom prst="rect">
            <a:avLst/>
          </a:prstGeom>
        </p:spPr>
      </p:pic>
      <p:sp>
        <p:nvSpPr>
          <p:cNvPr id="10" name="Text_6_8">
            <a:extLst>
              <a:ext uri="{FF2B5EF4-FFF2-40B4-BE49-F238E27FC236}">
                <a16:creationId xmlns:a16="http://schemas.microsoft.com/office/drawing/2014/main" id="{A5362049-BD85-6EC3-C8D7-0F5E4EDB578F}"/>
              </a:ext>
            </a:extLst>
          </p:cNvPr>
          <p:cNvSpPr txBox="1"/>
          <p:nvPr/>
        </p:nvSpPr>
        <p:spPr>
          <a:xfrm>
            <a:off x="5702300" y="5613400"/>
            <a:ext cx="5626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산길 시작 구간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  <p:sp>
        <p:nvSpPr>
          <p:cNvPr id="11" name="Text_6_9">
            <a:extLst>
              <a:ext uri="{FF2B5EF4-FFF2-40B4-BE49-F238E27FC236}">
                <a16:creationId xmlns:a16="http://schemas.microsoft.com/office/drawing/2014/main" id="{B685D52F-B582-1874-AACC-E9A448A3B786}"/>
              </a:ext>
            </a:extLst>
          </p:cNvPr>
          <p:cNvSpPr txBox="1"/>
          <p:nvPr/>
        </p:nvSpPr>
        <p:spPr>
          <a:xfrm>
            <a:off x="863600" y="58547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낙하 시 마지막 체크포인트로 복귀하며 기본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받는다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6739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7_1">
            <a:extLst>
              <a:ext uri="{FF2B5EF4-FFF2-40B4-BE49-F238E27FC236}">
                <a16:creationId xmlns:a16="http://schemas.microsoft.com/office/drawing/2014/main" id="{6F6490B0-B187-2B7D-2AE1-52AB17E56425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조작과 카메라</a:t>
            </a:r>
          </a:p>
        </p:txBody>
      </p:sp>
      <p:sp>
        <p:nvSpPr>
          <p:cNvPr id="3" name="Text_7_2">
            <a:extLst>
              <a:ext uri="{FF2B5EF4-FFF2-40B4-BE49-F238E27FC236}">
                <a16:creationId xmlns:a16="http://schemas.microsoft.com/office/drawing/2014/main" id="{2995F7E1-23C9-5750-9F28-DC3E4EB214A9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07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7">
            <a:extLst>
              <a:ext uri="{FF2B5EF4-FFF2-40B4-BE49-F238E27FC236}">
                <a16:creationId xmlns:a16="http://schemas.microsoft.com/office/drawing/2014/main" id="{AE9D0313-4CE9-5BDE-7FBC-A3E0AE639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214429"/>
              </p:ext>
            </p:extLst>
          </p:nvPr>
        </p:nvGraphicFramePr>
        <p:xfrm>
          <a:off x="863600" y="1714500"/>
          <a:ext cx="5003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98207847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542223187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</a:t>
                      </a:r>
                      <a:r>
                        <a:rPr lang="en-US" altLang="ko-KR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87329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WASD 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방향키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카메라 기준 이동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2383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Shift +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달리기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14858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마우스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휠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 회전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거리 조절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9256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Tab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주시 전환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51396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Space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구르기 회피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400570"/>
                  </a:ext>
                </a:extLst>
              </a:tr>
            </a:tbl>
          </a:graphicData>
        </a:graphic>
      </p:graphicFrame>
      <p:graphicFrame>
        <p:nvGraphicFramePr>
          <p:cNvPr id="5" name="Table_7">
            <a:extLst>
              <a:ext uri="{FF2B5EF4-FFF2-40B4-BE49-F238E27FC236}">
                <a16:creationId xmlns:a16="http://schemas.microsoft.com/office/drawing/2014/main" id="{094E0A43-922F-3D26-090E-1CA27FC3A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756718"/>
              </p:ext>
            </p:extLst>
          </p:nvPr>
        </p:nvGraphicFramePr>
        <p:xfrm>
          <a:off x="6324600" y="1714500"/>
          <a:ext cx="5003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2834831026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113484354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전투</a:t>
                      </a:r>
                      <a:r>
                        <a:rPr lang="en-US" altLang="ko-KR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상호작용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48744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좌클릭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J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발도 및 순차 연격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91048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 / 2 / 3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해당 공격 요청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40709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 / E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산신각 기도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1959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Esc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일시정지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복귀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18732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승패 후 거점 재시작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091308"/>
                  </a:ext>
                </a:extLst>
              </a:tr>
            </a:tbl>
          </a:graphicData>
        </a:graphic>
      </p:graphicFrame>
      <p:sp>
        <p:nvSpPr>
          <p:cNvPr id="6" name="Text_7_5">
            <a:extLst>
              <a:ext uri="{FF2B5EF4-FFF2-40B4-BE49-F238E27FC236}">
                <a16:creationId xmlns:a16="http://schemas.microsoft.com/office/drawing/2014/main" id="{5FF98B58-ECBC-06F1-4E4C-751F41883C7A}"/>
              </a:ext>
            </a:extLst>
          </p:cNvPr>
          <p:cNvSpPr txBox="1"/>
          <p:nvPr/>
        </p:nvSpPr>
        <p:spPr>
          <a:xfrm>
            <a:off x="863600" y="56642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보스전 시작 시 주시 활성화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지형 충돌로 카메라 가림 보정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등장 연출은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Space/Esc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건너뛰기</a:t>
            </a:r>
          </a:p>
        </p:txBody>
      </p:sp>
    </p:spTree>
    <p:extLst>
      <p:ext uri="{BB962C8B-B14F-4D97-AF65-F5344CB8AC3E}">
        <p14:creationId xmlns:p14="http://schemas.microsoft.com/office/powerpoint/2010/main" val="624752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8_1">
            <a:extLst>
              <a:ext uri="{FF2B5EF4-FFF2-40B4-BE49-F238E27FC236}">
                <a16:creationId xmlns:a16="http://schemas.microsoft.com/office/drawing/2014/main" id="{B5BDA141-50FC-C46C-90E3-68213DC9CB63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부채 </a:t>
            </a: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3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단 연격</a:t>
            </a:r>
          </a:p>
        </p:txBody>
      </p:sp>
      <p:sp>
        <p:nvSpPr>
          <p:cNvPr id="3" name="Text_8_2">
            <a:extLst>
              <a:ext uri="{FF2B5EF4-FFF2-40B4-BE49-F238E27FC236}">
                <a16:creationId xmlns:a16="http://schemas.microsoft.com/office/drawing/2014/main" id="{2BCFC36A-7332-F057-6B8F-127ECA17FFB0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08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Picture_8_3" descr="; Assets/Temp/WindWaveIntegration~/WindWave_Attack1.png">
            <a:extLst>
              <a:ext uri="{FF2B5EF4-FFF2-40B4-BE49-F238E27FC236}">
                <a16:creationId xmlns:a16="http://schemas.microsoft.com/office/drawing/2014/main" id="{91A97816-DB81-2D96-B0C0-378FA4B48AA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71" t="34722" r="18750" b="20486"/>
          <a:stretch>
            <a:fillRect/>
          </a:stretch>
        </p:blipFill>
        <p:spPr>
          <a:xfrm>
            <a:off x="980440" y="1676400"/>
            <a:ext cx="3017520" cy="2514600"/>
          </a:xfrm>
          <a:prstGeom prst="rect">
            <a:avLst/>
          </a:prstGeom>
        </p:spPr>
      </p:pic>
      <p:pic>
        <p:nvPicPr>
          <p:cNvPr id="7" name="Picture_8_4" descr="; Assets/Temp/WindWaveIntegration~/WindWave_Attack2.png">
            <a:extLst>
              <a:ext uri="{FF2B5EF4-FFF2-40B4-BE49-F238E27FC236}">
                <a16:creationId xmlns:a16="http://schemas.microsoft.com/office/drawing/2014/main" id="{4911E33D-F44E-3ADB-4184-67573F830A3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8" t="37326" r="22656" b="19618"/>
          <a:stretch>
            <a:fillRect/>
          </a:stretch>
        </p:blipFill>
        <p:spPr>
          <a:xfrm>
            <a:off x="4470400" y="1678851"/>
            <a:ext cx="3251200" cy="2509698"/>
          </a:xfrm>
          <a:prstGeom prst="rect">
            <a:avLst/>
          </a:prstGeom>
        </p:spPr>
      </p:pic>
      <p:pic>
        <p:nvPicPr>
          <p:cNvPr id="9" name="Picture_8_5" descr="; Assets/Temp/WindWaveIntegration~/WindWave_Attack3.png">
            <a:extLst>
              <a:ext uri="{FF2B5EF4-FFF2-40B4-BE49-F238E27FC236}">
                <a16:creationId xmlns:a16="http://schemas.microsoft.com/office/drawing/2014/main" id="{A67D8F62-7769-3275-31D6-20CCA75E17F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6" t="34722" r="26563" b="17014"/>
          <a:stretch>
            <a:fillRect/>
          </a:stretch>
        </p:blipFill>
        <p:spPr>
          <a:xfrm>
            <a:off x="8097736" y="1676400"/>
            <a:ext cx="3210128" cy="2514600"/>
          </a:xfrm>
          <a:prstGeom prst="rect">
            <a:avLst/>
          </a:prstGeom>
        </p:spPr>
      </p:pic>
      <p:sp>
        <p:nvSpPr>
          <p:cNvPr id="10" name="Text_8_6">
            <a:extLst>
              <a:ext uri="{FF2B5EF4-FFF2-40B4-BE49-F238E27FC236}">
                <a16:creationId xmlns:a16="http://schemas.microsoft.com/office/drawing/2014/main" id="{A6275E71-83F9-B3D5-8155-00CFD90CFBF4}"/>
              </a:ext>
            </a:extLst>
          </p:cNvPr>
          <p:cNvSpPr txBox="1"/>
          <p:nvPr/>
        </p:nvSpPr>
        <p:spPr>
          <a:xfrm>
            <a:off x="863600" y="44577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  세로 내려치기</a:t>
            </a:r>
          </a:p>
        </p:txBody>
      </p:sp>
      <p:sp>
        <p:nvSpPr>
          <p:cNvPr id="11" name="Text_8_7">
            <a:extLst>
              <a:ext uri="{FF2B5EF4-FFF2-40B4-BE49-F238E27FC236}">
                <a16:creationId xmlns:a16="http://schemas.microsoft.com/office/drawing/2014/main" id="{B990B560-31AA-EEEC-2FF3-8919EE7E5DFE}"/>
              </a:ext>
            </a:extLst>
          </p:cNvPr>
          <p:cNvSpPr txBox="1"/>
          <p:nvPr/>
        </p:nvSpPr>
        <p:spPr>
          <a:xfrm>
            <a:off x="4470400" y="44577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  가로 휘두르기</a:t>
            </a:r>
          </a:p>
        </p:txBody>
      </p:sp>
      <p:sp>
        <p:nvSpPr>
          <p:cNvPr id="12" name="Text_8_8">
            <a:extLst>
              <a:ext uri="{FF2B5EF4-FFF2-40B4-BE49-F238E27FC236}">
                <a16:creationId xmlns:a16="http://schemas.microsoft.com/office/drawing/2014/main" id="{7D5D6B62-8F7C-2B0F-AFA8-5B095D2A72BD}"/>
              </a:ext>
            </a:extLst>
          </p:cNvPr>
          <p:cNvSpPr txBox="1"/>
          <p:nvPr/>
        </p:nvSpPr>
        <p:spPr>
          <a:xfrm>
            <a:off x="8077200" y="44577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  넓은 마무리</a:t>
            </a:r>
          </a:p>
        </p:txBody>
      </p:sp>
      <p:sp>
        <p:nvSpPr>
          <p:cNvPr id="13" name="Text_8_9">
            <a:extLst>
              <a:ext uri="{FF2B5EF4-FFF2-40B4-BE49-F238E27FC236}">
                <a16:creationId xmlns:a16="http://schemas.microsoft.com/office/drawing/2014/main" id="{82826893-3E9E-B4F3-4E22-8982CBE3C175}"/>
              </a:ext>
            </a:extLst>
          </p:cNvPr>
          <p:cNvSpPr txBox="1"/>
          <p:nvPr/>
        </p:nvSpPr>
        <p:spPr>
          <a:xfrm>
            <a:off x="863600" y="50165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 타격과 전방 바람
기준 피해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22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_8_10">
            <a:extLst>
              <a:ext uri="{FF2B5EF4-FFF2-40B4-BE49-F238E27FC236}">
                <a16:creationId xmlns:a16="http://schemas.microsoft.com/office/drawing/2014/main" id="{B68D78B3-F9D3-10BD-4224-2123981DDF98}"/>
              </a:ext>
            </a:extLst>
          </p:cNvPr>
          <p:cNvSpPr txBox="1"/>
          <p:nvPr/>
        </p:nvSpPr>
        <p:spPr>
          <a:xfrm>
            <a:off x="4470400" y="50165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 타격 중심
기준 피해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_8_11">
            <a:extLst>
              <a:ext uri="{FF2B5EF4-FFF2-40B4-BE49-F238E27FC236}">
                <a16:creationId xmlns:a16="http://schemas.microsoft.com/office/drawing/2014/main" id="{277E5F43-B253-A1D9-4E27-22A1CA0A34DA}"/>
              </a:ext>
            </a:extLst>
          </p:cNvPr>
          <p:cNvSpPr txBox="1"/>
          <p:nvPr/>
        </p:nvSpPr>
        <p:spPr>
          <a:xfrm>
            <a:off x="8077200" y="50165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넓은 궤적과 전방 바람
기준 피해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40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_8_12">
            <a:extLst>
              <a:ext uri="{FF2B5EF4-FFF2-40B4-BE49-F238E27FC236}">
                <a16:creationId xmlns:a16="http://schemas.microsoft.com/office/drawing/2014/main" id="{E055E8F3-D882-6D75-9119-97AD80197A68}"/>
              </a:ext>
            </a:extLst>
          </p:cNvPr>
          <p:cNvSpPr txBox="1"/>
          <p:nvPr/>
        </p:nvSpPr>
        <p:spPr>
          <a:xfrm>
            <a:off x="863600" y="60833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효과는 프로젝트 보관 캡처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피해량은 현재 씬의 작업값</a:t>
            </a:r>
          </a:p>
        </p:txBody>
      </p:sp>
    </p:spTree>
    <p:extLst>
      <p:ext uri="{BB962C8B-B14F-4D97-AF65-F5344CB8AC3E}">
        <p14:creationId xmlns:p14="http://schemas.microsoft.com/office/powerpoint/2010/main" val="321322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9_1">
            <a:extLst>
              <a:ext uri="{FF2B5EF4-FFF2-40B4-BE49-F238E27FC236}">
                <a16:creationId xmlns:a16="http://schemas.microsoft.com/office/drawing/2014/main" id="{030D534D-C934-194C-5F0D-CCD00545DA5D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직접 타격과 바람 피해</a:t>
            </a:r>
          </a:p>
        </p:txBody>
      </p:sp>
      <p:sp>
        <p:nvSpPr>
          <p:cNvPr id="3" name="Text_9_2">
            <a:extLst>
              <a:ext uri="{FF2B5EF4-FFF2-40B4-BE49-F238E27FC236}">
                <a16:creationId xmlns:a16="http://schemas.microsoft.com/office/drawing/2014/main" id="{4A088909-00CE-8048-2711-0FEBB3A09C0A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09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9_3">
            <a:extLst>
              <a:ext uri="{FF2B5EF4-FFF2-40B4-BE49-F238E27FC236}">
                <a16:creationId xmlns:a16="http://schemas.microsoft.com/office/drawing/2014/main" id="{AA5BCAC3-2366-B72F-5B01-4F4B6F6D27A1}"/>
              </a:ext>
            </a:extLst>
          </p:cNvPr>
          <p:cNvSpPr txBox="1"/>
          <p:nvPr/>
        </p:nvSpPr>
        <p:spPr>
          <a:xfrm>
            <a:off x="863600" y="16510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3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같은 연격 안에서 근접 부채와 원격 바람을 별도로 판정</a:t>
            </a:r>
          </a:p>
        </p:txBody>
      </p:sp>
      <p:graphicFrame>
        <p:nvGraphicFramePr>
          <p:cNvPr id="5" name="Table_9">
            <a:extLst>
              <a:ext uri="{FF2B5EF4-FFF2-40B4-BE49-F238E27FC236}">
                <a16:creationId xmlns:a16="http://schemas.microsoft.com/office/drawing/2014/main" id="{C926B48B-365D-8B3C-AEB1-C05EFE5C3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125061"/>
              </p:ext>
            </p:extLst>
          </p:nvPr>
        </p:nvGraphicFramePr>
        <p:xfrm>
          <a:off x="863600" y="2552700"/>
          <a:ext cx="104648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31723299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3201170023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389079336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242969591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기준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직접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바람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142736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22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15.4  (70%)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6.6  (30%)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681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  (100%)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없음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3607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40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  (70%)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  (30%)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90038"/>
                  </a:ext>
                </a:extLst>
              </a:tr>
            </a:tbl>
          </a:graphicData>
        </a:graphic>
      </p:graphicFrame>
      <p:sp>
        <p:nvSpPr>
          <p:cNvPr id="6" name="Text_9_5">
            <a:extLst>
              <a:ext uri="{FF2B5EF4-FFF2-40B4-BE49-F238E27FC236}">
                <a16:creationId xmlns:a16="http://schemas.microsoft.com/office/drawing/2014/main" id="{3FDD109B-6D9B-7F08-E07F-50BC05176F88}"/>
              </a:ext>
            </a:extLst>
          </p:cNvPr>
          <p:cNvSpPr txBox="1"/>
          <p:nvPr/>
        </p:nvSpPr>
        <p:spPr>
          <a:xfrm>
            <a:off x="863600" y="52578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동일 공격의 같은 대상은 직접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바람 채널별로 한 번씩 명중</a:t>
            </a:r>
          </a:p>
        </p:txBody>
      </p:sp>
      <p:sp>
        <p:nvSpPr>
          <p:cNvPr id="7" name="Text_9_6">
            <a:extLst>
              <a:ext uri="{FF2B5EF4-FFF2-40B4-BE49-F238E27FC236}">
                <a16:creationId xmlns:a16="http://schemas.microsoft.com/office/drawing/2014/main" id="{74BE8162-82F5-F922-7DC3-9078ADFEBC14}"/>
              </a:ext>
            </a:extLst>
          </p:cNvPr>
          <p:cNvSpPr txBox="1"/>
          <p:nvPr/>
        </p:nvSpPr>
        <p:spPr>
          <a:xfrm>
            <a:off x="863600" y="58674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 채널이 모두 맞을 때 기준 피해량에 도달한다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수치는 최종 밸런스 확정값이 아니다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800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0_1">
            <a:extLst>
              <a:ext uri="{FF2B5EF4-FFF2-40B4-BE49-F238E27FC236}">
                <a16:creationId xmlns:a16="http://schemas.microsoft.com/office/drawing/2014/main" id="{840D3B3A-28AC-D9F7-19A8-E19F1FD83E35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회피와 피격의 전투 흐름</a:t>
            </a:r>
          </a:p>
        </p:txBody>
      </p:sp>
      <p:sp>
        <p:nvSpPr>
          <p:cNvPr id="3" name="Text_10_2">
            <a:extLst>
              <a:ext uri="{FF2B5EF4-FFF2-40B4-BE49-F238E27FC236}">
                <a16:creationId xmlns:a16="http://schemas.microsoft.com/office/drawing/2014/main" id="{72FEEC27-98D8-776A-F725-43550726A14E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0_3">
            <a:extLst>
              <a:ext uri="{FF2B5EF4-FFF2-40B4-BE49-F238E27FC236}">
                <a16:creationId xmlns:a16="http://schemas.microsoft.com/office/drawing/2014/main" id="{96693C88-7B4E-9CDA-FA73-9EB63F4F1124}"/>
              </a:ext>
            </a:extLst>
          </p:cNvPr>
          <p:cNvSpPr txBox="1"/>
          <p:nvPr/>
        </p:nvSpPr>
        <p:spPr>
          <a:xfrm>
            <a:off x="863600" y="17653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전조 확인과 구르기</a:t>
            </a:r>
          </a:p>
        </p:txBody>
      </p:sp>
      <p:sp>
        <p:nvSpPr>
          <p:cNvPr id="5" name="Text_10_4">
            <a:extLst>
              <a:ext uri="{FF2B5EF4-FFF2-40B4-BE49-F238E27FC236}">
                <a16:creationId xmlns:a16="http://schemas.microsoft.com/office/drawing/2014/main" id="{C8918FAA-B71B-DB7B-31B8-E116D4A47687}"/>
              </a:ext>
            </a:extLst>
          </p:cNvPr>
          <p:cNvSpPr txBox="1"/>
          <p:nvPr/>
        </p:nvSpPr>
        <p:spPr>
          <a:xfrm>
            <a:off x="863600" y="2260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적의 준비 동작과 범위를 보고 피한 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 중인 보스를 공격한다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_10_5">
            <a:extLst>
              <a:ext uri="{FF2B5EF4-FFF2-40B4-BE49-F238E27FC236}">
                <a16:creationId xmlns:a16="http://schemas.microsoft.com/office/drawing/2014/main" id="{804BBBBE-B967-74AC-EFA7-66AD6A5C1B2F}"/>
              </a:ext>
            </a:extLst>
          </p:cNvPr>
          <p:cNvSpPr txBox="1"/>
          <p:nvPr/>
        </p:nvSpPr>
        <p:spPr>
          <a:xfrm>
            <a:off x="863600" y="314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 유예와 캔슬</a:t>
            </a:r>
          </a:p>
        </p:txBody>
      </p:sp>
      <p:sp>
        <p:nvSpPr>
          <p:cNvPr id="7" name="Text_10_6">
            <a:extLst>
              <a:ext uri="{FF2B5EF4-FFF2-40B4-BE49-F238E27FC236}">
                <a16:creationId xmlns:a16="http://schemas.microsoft.com/office/drawing/2014/main" id="{FDF0192C-F1E6-6696-262D-30485D4C10CD}"/>
              </a:ext>
            </a:extLst>
          </p:cNvPr>
          <p:cNvSpPr txBox="1"/>
          <p:nvPr/>
        </p:nvSpPr>
        <p:spPr>
          <a:xfrm>
            <a:off x="863600" y="36449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전환 직전의 입력을 약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0.15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받아 두고 동작별 허용 시점에 실행한다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10_7">
            <a:extLst>
              <a:ext uri="{FF2B5EF4-FFF2-40B4-BE49-F238E27FC236}">
                <a16:creationId xmlns:a16="http://schemas.microsoft.com/office/drawing/2014/main" id="{ECA9513A-2C04-9C3C-11B2-F659BA145B77}"/>
              </a:ext>
            </a:extLst>
          </p:cNvPr>
          <p:cNvSpPr txBox="1"/>
          <p:nvPr/>
        </p:nvSpPr>
        <p:spPr>
          <a:xfrm>
            <a:off x="863600" y="45339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 피격과 강피격</a:t>
            </a:r>
          </a:p>
        </p:txBody>
      </p:sp>
      <p:sp>
        <p:nvSpPr>
          <p:cNvPr id="9" name="Text_10_8">
            <a:extLst>
              <a:ext uri="{FF2B5EF4-FFF2-40B4-BE49-F238E27FC236}">
                <a16:creationId xmlns:a16="http://schemas.microsoft.com/office/drawing/2014/main" id="{47DF970F-FD29-E14E-F5DC-F2CE42866625}"/>
              </a:ext>
            </a:extLst>
          </p:cNvPr>
          <p:cNvSpPr txBox="1"/>
          <p:nvPr/>
        </p:nvSpPr>
        <p:spPr>
          <a:xfrm>
            <a:off x="863600" y="50292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강한 공격은 넘어짐과 기상으로 연결한다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치명 피해는 사망 상태로 이어진다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_10_9">
            <a:extLst>
              <a:ext uri="{FF2B5EF4-FFF2-40B4-BE49-F238E27FC236}">
                <a16:creationId xmlns:a16="http://schemas.microsoft.com/office/drawing/2014/main" id="{51CE5DF9-11E7-53EB-774C-D877CAB43A15}"/>
              </a:ext>
            </a:extLst>
          </p:cNvPr>
          <p:cNvSpPr txBox="1"/>
          <p:nvPr/>
        </p:nvSpPr>
        <p:spPr>
          <a:xfrm>
            <a:off x="863600" y="58547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피해 후 기본 재피격 유예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0.65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캔슬과 무적 구간은 동작별 설정을 따른다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5668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1_1">
            <a:extLst>
              <a:ext uri="{FF2B5EF4-FFF2-40B4-BE49-F238E27FC236}">
                <a16:creationId xmlns:a16="http://schemas.microsoft.com/office/drawing/2014/main" id="{85ED9530-0EC6-2FB3-B623-F7DEF1EEB43B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호리병 회복과 재도전</a:t>
            </a:r>
          </a:p>
        </p:txBody>
      </p:sp>
      <p:sp>
        <p:nvSpPr>
          <p:cNvPr id="3" name="Text_11_2">
            <a:extLst>
              <a:ext uri="{FF2B5EF4-FFF2-40B4-BE49-F238E27FC236}">
                <a16:creationId xmlns:a16="http://schemas.microsoft.com/office/drawing/2014/main" id="{02820A5B-FB21-5783-0DBE-8038CED9359F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1_3">
            <a:extLst>
              <a:ext uri="{FF2B5EF4-FFF2-40B4-BE49-F238E27FC236}">
                <a16:creationId xmlns:a16="http://schemas.microsoft.com/office/drawing/2014/main" id="{78D84A52-F722-6229-8D9F-46B4C16630BB}"/>
              </a:ext>
            </a:extLst>
          </p:cNvPr>
          <p:cNvSpPr txBox="1"/>
          <p:nvPr/>
        </p:nvSpPr>
        <p:spPr>
          <a:xfrm>
            <a:off x="863600" y="17399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47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40</a:t>
            </a:r>
            <a:endParaRPr lang="ko-KR" altLang="en-US" sz="4700">
              <a:solidFill>
                <a:srgbClr val="3F6A5B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5" name="Text_11_4">
            <a:extLst>
              <a:ext uri="{FF2B5EF4-FFF2-40B4-BE49-F238E27FC236}">
                <a16:creationId xmlns:a16="http://schemas.microsoft.com/office/drawing/2014/main" id="{9A7F0FE1-312B-F7A5-093D-A05582794210}"/>
              </a:ext>
            </a:extLst>
          </p:cNvPr>
          <p:cNvSpPr txBox="1"/>
          <p:nvPr/>
        </p:nvSpPr>
        <p:spPr>
          <a:xfrm>
            <a:off x="901700" y="27813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70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70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회복량</a:t>
            </a:r>
          </a:p>
        </p:txBody>
      </p:sp>
      <p:sp>
        <p:nvSpPr>
          <p:cNvPr id="6" name="Text_11_5">
            <a:extLst>
              <a:ext uri="{FF2B5EF4-FFF2-40B4-BE49-F238E27FC236}">
                <a16:creationId xmlns:a16="http://schemas.microsoft.com/office/drawing/2014/main" id="{97F9B6A0-B417-74F2-2EC7-83583263EE55}"/>
              </a:ext>
            </a:extLst>
          </p:cNvPr>
          <p:cNvSpPr txBox="1"/>
          <p:nvPr/>
        </p:nvSpPr>
        <p:spPr>
          <a:xfrm>
            <a:off x="863600" y="351790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회복</a:t>
            </a:r>
          </a:p>
        </p:txBody>
      </p:sp>
      <p:sp>
        <p:nvSpPr>
          <p:cNvPr id="7" name="Text_11_6">
            <a:extLst>
              <a:ext uri="{FF2B5EF4-FFF2-40B4-BE49-F238E27FC236}">
                <a16:creationId xmlns:a16="http://schemas.microsoft.com/office/drawing/2014/main" id="{DBC6132A-85DE-3A59-C342-BD1D89712727}"/>
              </a:ext>
            </a:extLst>
          </p:cNvPr>
          <p:cNvSpPr txBox="1"/>
          <p:nvPr/>
        </p:nvSpPr>
        <p:spPr>
          <a:xfrm>
            <a:off x="863600" y="401320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이동을 유지하며 호리병을 마신다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11_7">
            <a:extLst>
              <a:ext uri="{FF2B5EF4-FFF2-40B4-BE49-F238E27FC236}">
                <a16:creationId xmlns:a16="http://schemas.microsoft.com/office/drawing/2014/main" id="{66389A7A-8C7C-BF6D-C51E-381734C1C766}"/>
              </a:ext>
            </a:extLst>
          </p:cNvPr>
          <p:cNvSpPr txBox="1"/>
          <p:nvPr/>
        </p:nvSpPr>
        <p:spPr>
          <a:xfrm>
            <a:off x="863600" y="47879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
산신각 기도로 충전
피격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공격 전환 시 취소 가능</a:t>
            </a:r>
          </a:p>
        </p:txBody>
      </p:sp>
      <p:pic>
        <p:nvPicPr>
          <p:cNvPr id="10" name="Picture_11_8" descr="호리병 사용 동작 · 프로젝트 보관 캡처; Assets/Temp/MainSceneIntegration~/T_MainDrinking.png">
            <a:extLst>
              <a:ext uri="{FF2B5EF4-FFF2-40B4-BE49-F238E27FC236}">
                <a16:creationId xmlns:a16="http://schemas.microsoft.com/office/drawing/2014/main" id="{82F7E433-BDB9-AD1C-8BCD-87F36AFA8FB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005806"/>
            <a:ext cx="5918200" cy="3328988"/>
          </a:xfrm>
          <a:prstGeom prst="rect">
            <a:avLst/>
          </a:prstGeom>
        </p:spPr>
      </p:pic>
      <p:sp>
        <p:nvSpPr>
          <p:cNvPr id="11" name="Text_11_9">
            <a:extLst>
              <a:ext uri="{FF2B5EF4-FFF2-40B4-BE49-F238E27FC236}">
                <a16:creationId xmlns:a16="http://schemas.microsoft.com/office/drawing/2014/main" id="{1DD51CDA-4B3D-4A15-9059-814081417876}"/>
              </a:ext>
            </a:extLst>
          </p:cNvPr>
          <p:cNvSpPr txBox="1"/>
          <p:nvPr/>
        </p:nvSpPr>
        <p:spPr>
          <a:xfrm>
            <a:off x="5410200" y="5651500"/>
            <a:ext cx="591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호리병 사용 동작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</p:spTree>
    <p:extLst>
      <p:ext uri="{BB962C8B-B14F-4D97-AF65-F5344CB8AC3E}">
        <p14:creationId xmlns:p14="http://schemas.microsoft.com/office/powerpoint/2010/main" val="95117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2_1">
            <a:extLst>
              <a:ext uri="{FF2B5EF4-FFF2-40B4-BE49-F238E27FC236}">
                <a16:creationId xmlns:a16="http://schemas.microsoft.com/office/drawing/2014/main" id="{238DA6B7-86BA-43DC-9C00-134030C02FC4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장승 수문장 보스</a:t>
            </a:r>
          </a:p>
        </p:txBody>
      </p:sp>
      <p:sp>
        <p:nvSpPr>
          <p:cNvPr id="3" name="Text_12_2">
            <a:extLst>
              <a:ext uri="{FF2B5EF4-FFF2-40B4-BE49-F238E27FC236}">
                <a16:creationId xmlns:a16="http://schemas.microsoft.com/office/drawing/2014/main" id="{573B3A52-7248-A453-85C6-241F9F4616AC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2_3">
            <a:extLst>
              <a:ext uri="{FF2B5EF4-FFF2-40B4-BE49-F238E27FC236}">
                <a16:creationId xmlns:a16="http://schemas.microsoft.com/office/drawing/2014/main" id="{874A01EE-75C1-9CE0-BF37-9B3A56798B0F}"/>
              </a:ext>
            </a:extLst>
          </p:cNvPr>
          <p:cNvSpPr txBox="1"/>
          <p:nvPr/>
        </p:nvSpPr>
        <p:spPr>
          <a:xfrm>
            <a:off x="863600" y="18161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0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천하대장군</a:t>
            </a:r>
          </a:p>
        </p:txBody>
      </p:sp>
      <p:sp>
        <p:nvSpPr>
          <p:cNvPr id="5" name="Text_12_4">
            <a:extLst>
              <a:ext uri="{FF2B5EF4-FFF2-40B4-BE49-F238E27FC236}">
                <a16:creationId xmlns:a16="http://schemas.microsoft.com/office/drawing/2014/main" id="{2E76553F-ED3E-E477-08CA-557C6E4369E3}"/>
              </a:ext>
            </a:extLst>
          </p:cNvPr>
          <p:cNvSpPr txBox="1"/>
          <p:nvPr/>
        </p:nvSpPr>
        <p:spPr>
          <a:xfrm>
            <a:off x="863600" y="25273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00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산문의 수문장</a:t>
            </a:r>
          </a:p>
        </p:txBody>
      </p:sp>
      <p:sp>
        <p:nvSpPr>
          <p:cNvPr id="6" name="Text_12_5">
            <a:extLst>
              <a:ext uri="{FF2B5EF4-FFF2-40B4-BE49-F238E27FC236}">
                <a16:creationId xmlns:a16="http://schemas.microsoft.com/office/drawing/2014/main" id="{5F748D9E-F9D1-8D4E-521B-B672C6BEE8B6}"/>
              </a:ext>
            </a:extLst>
          </p:cNvPr>
          <p:cNvSpPr txBox="1"/>
          <p:nvPr/>
        </p:nvSpPr>
        <p:spPr>
          <a:xfrm>
            <a:off x="863600" y="32893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견습 도사의 첫 관문
공격 전조와 회피 시점 학습
후딜레이의 반격 기회</a:t>
            </a:r>
          </a:p>
        </p:txBody>
      </p:sp>
      <p:sp>
        <p:nvSpPr>
          <p:cNvPr id="7" name="Text_12_6">
            <a:extLst>
              <a:ext uri="{FF2B5EF4-FFF2-40B4-BE49-F238E27FC236}">
                <a16:creationId xmlns:a16="http://schemas.microsoft.com/office/drawing/2014/main" id="{9ABD8660-FCC8-F8C6-4964-BD5754A86A1A}"/>
              </a:ext>
            </a:extLst>
          </p:cNvPr>
          <p:cNvSpPr txBox="1"/>
          <p:nvPr/>
        </p:nvSpPr>
        <p:spPr>
          <a:xfrm>
            <a:off x="863600" y="5156200"/>
            <a:ext cx="4394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5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 체력 </a:t>
            </a:r>
            <a:r>
              <a:rPr lang="en-US" altLang="ko-KR" sz="25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420</a:t>
            </a:r>
            <a:endParaRPr lang="ko-KR" altLang="en-US" sz="2500" b="1">
              <a:solidFill>
                <a:srgbClr val="3F6A5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Picture_12_7" descr="수문장과 코김 전조 · 프로젝트 보관 캡처; Assets/Temp/PursuitSlamBuild~/Test_NoseSteam.png">
            <a:extLst>
              <a:ext uri="{FF2B5EF4-FFF2-40B4-BE49-F238E27FC236}">
                <a16:creationId xmlns:a16="http://schemas.microsoft.com/office/drawing/2014/main" id="{7D1C651E-D8CD-79E3-D89E-7E26B400B5E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671638"/>
            <a:ext cx="5499100" cy="4124325"/>
          </a:xfrm>
          <a:prstGeom prst="rect">
            <a:avLst/>
          </a:prstGeom>
        </p:spPr>
      </p:pic>
      <p:sp>
        <p:nvSpPr>
          <p:cNvPr id="10" name="Text_12_8">
            <a:extLst>
              <a:ext uri="{FF2B5EF4-FFF2-40B4-BE49-F238E27FC236}">
                <a16:creationId xmlns:a16="http://schemas.microsoft.com/office/drawing/2014/main" id="{566B1390-C798-4EEB-FD65-CB4ADF7ECE0C}"/>
              </a:ext>
            </a:extLst>
          </p:cNvPr>
          <p:cNvSpPr txBox="1"/>
          <p:nvPr/>
        </p:nvSpPr>
        <p:spPr>
          <a:xfrm>
            <a:off x="5829300" y="5905500"/>
            <a:ext cx="549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수문장과 코김 전조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</p:spTree>
    <p:extLst>
      <p:ext uri="{BB962C8B-B14F-4D97-AF65-F5344CB8AC3E}">
        <p14:creationId xmlns:p14="http://schemas.microsoft.com/office/powerpoint/2010/main" val="3457122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3_1">
            <a:extLst>
              <a:ext uri="{FF2B5EF4-FFF2-40B4-BE49-F238E27FC236}">
                <a16:creationId xmlns:a16="http://schemas.microsoft.com/office/drawing/2014/main" id="{D410B456-3F99-8BC7-52DC-EEDE3C5F6C8F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수문장의 주요 공격과 대응</a:t>
            </a:r>
          </a:p>
        </p:txBody>
      </p:sp>
      <p:sp>
        <p:nvSpPr>
          <p:cNvPr id="3" name="Text_13_2">
            <a:extLst>
              <a:ext uri="{FF2B5EF4-FFF2-40B4-BE49-F238E27FC236}">
                <a16:creationId xmlns:a16="http://schemas.microsoft.com/office/drawing/2014/main" id="{784C8606-0A9E-D7D8-431E-E1924A7A062F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13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13">
            <a:extLst>
              <a:ext uri="{FF2B5EF4-FFF2-40B4-BE49-F238E27FC236}">
                <a16:creationId xmlns:a16="http://schemas.microsoft.com/office/drawing/2014/main" id="{630FCA4C-F7AB-E983-7C8B-2E1C97B17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769337"/>
              </p:ext>
            </p:extLst>
          </p:nvPr>
        </p:nvGraphicFramePr>
        <p:xfrm>
          <a:off x="863600" y="1752600"/>
          <a:ext cx="10464800" cy="344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43741855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412260198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022570283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특징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대응과 반격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455021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 점프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 주변으로 뛰어 착지 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착지 위치를 보고 이탈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81961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엎어지기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몸체를 넘어뜨려 앞쪽을 타격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측면 회피 후 넘어진 동안 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792613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지면 연속 폭발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전방 </a:t>
                      </a:r>
                      <a:r>
                        <a:rPr lang="en-US" altLang="ko-KR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 지점을 순차 타격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직선 경로에서 벗어나기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895442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추적 점프</a:t>
                      </a:r>
                      <a:r>
                        <a:rPr lang="en-US" altLang="ko-KR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 찍기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추적 점프 후 큰 강하 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연속 회피 후 긴 후딜레이 활용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78380"/>
                  </a:ext>
                </a:extLst>
              </a:tr>
            </a:tbl>
          </a:graphicData>
        </a:graphic>
      </p:graphicFrame>
      <p:sp>
        <p:nvSpPr>
          <p:cNvPr id="5" name="Text_13_4">
            <a:extLst>
              <a:ext uri="{FF2B5EF4-FFF2-40B4-BE49-F238E27FC236}">
                <a16:creationId xmlns:a16="http://schemas.microsoft.com/office/drawing/2014/main" id="{94749A84-C5A7-0915-13EE-F0B0338DBEB7}"/>
              </a:ext>
            </a:extLst>
          </p:cNvPr>
          <p:cNvSpPr txBox="1"/>
          <p:nvPr/>
        </p:nvSpPr>
        <p:spPr>
          <a:xfrm>
            <a:off x="863600" y="56515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 작업값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점프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엎어지기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지면 폭발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8029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4_1">
            <a:extLst>
              <a:ext uri="{FF2B5EF4-FFF2-40B4-BE49-F238E27FC236}">
                <a16:creationId xmlns:a16="http://schemas.microsoft.com/office/drawing/2014/main" id="{35467552-0CC3-B2CB-AD5C-061BCF076EEC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추적 점프와 등 찍기</a:t>
            </a:r>
          </a:p>
        </p:txBody>
      </p:sp>
      <p:sp>
        <p:nvSpPr>
          <p:cNvPr id="3" name="Text_14_2">
            <a:extLst>
              <a:ext uri="{FF2B5EF4-FFF2-40B4-BE49-F238E27FC236}">
                <a16:creationId xmlns:a16="http://schemas.microsoft.com/office/drawing/2014/main" id="{82E1B1D2-31DA-333D-34D4-65A386DF4E87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14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Picture_14_3" descr="최종 강하 후 회복 구간 · 프로젝트 보관 캡처; Assets/Temp/PursuitSlamBuild~/Test_BackSlamDust.png">
            <a:extLst>
              <a:ext uri="{FF2B5EF4-FFF2-40B4-BE49-F238E27FC236}">
                <a16:creationId xmlns:a16="http://schemas.microsoft.com/office/drawing/2014/main" id="{6D97BE1A-0570-AD44-3A3A-BFB49C81E55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765300"/>
            <a:ext cx="4927600" cy="3695700"/>
          </a:xfrm>
          <a:prstGeom prst="rect">
            <a:avLst/>
          </a:prstGeom>
        </p:spPr>
      </p:pic>
      <p:sp>
        <p:nvSpPr>
          <p:cNvPr id="6" name="Text_14_4">
            <a:extLst>
              <a:ext uri="{FF2B5EF4-FFF2-40B4-BE49-F238E27FC236}">
                <a16:creationId xmlns:a16="http://schemas.microsoft.com/office/drawing/2014/main" id="{5C432D90-200E-98EA-8432-3A29951B7D23}"/>
              </a:ext>
            </a:extLst>
          </p:cNvPr>
          <p:cNvSpPr txBox="1"/>
          <p:nvPr/>
        </p:nvSpPr>
        <p:spPr>
          <a:xfrm>
            <a:off x="863600" y="5562600"/>
            <a:ext cx="574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강하 후 회복 구간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  <p:sp>
        <p:nvSpPr>
          <p:cNvPr id="7" name="Text_14_5">
            <a:extLst>
              <a:ext uri="{FF2B5EF4-FFF2-40B4-BE49-F238E27FC236}">
                <a16:creationId xmlns:a16="http://schemas.microsoft.com/office/drawing/2014/main" id="{2FF5AA24-6906-25F4-E9A9-A89FC839C1CD}"/>
              </a:ext>
            </a:extLst>
          </p:cNvPr>
          <p:cNvSpPr txBox="1"/>
          <p:nvPr/>
        </p:nvSpPr>
        <p:spPr>
          <a:xfrm>
            <a:off x="7061200" y="17653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코김 전조 </a:t>
            </a:r>
            <a:r>
              <a:rPr lang="en-US" altLang="ko-KR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1.5</a:t>
            </a: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
추적 점프 </a:t>
            </a:r>
            <a:r>
              <a:rPr lang="en-US" altLang="ko-KR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
높이 뛰어 등으로 찍기
회복 </a:t>
            </a:r>
            <a:r>
              <a:rPr lang="en-US" altLang="ko-KR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동안 반격</a:t>
            </a:r>
          </a:p>
        </p:txBody>
      </p:sp>
      <p:sp>
        <p:nvSpPr>
          <p:cNvPr id="8" name="Text_14_6">
            <a:extLst>
              <a:ext uri="{FF2B5EF4-FFF2-40B4-BE49-F238E27FC236}">
                <a16:creationId xmlns:a16="http://schemas.microsoft.com/office/drawing/2014/main" id="{F786AE9C-B3E4-8DB0-EB59-9145A79C12E9}"/>
              </a:ext>
            </a:extLst>
          </p:cNvPr>
          <p:cNvSpPr txBox="1"/>
          <p:nvPr/>
        </p:nvSpPr>
        <p:spPr>
          <a:xfrm>
            <a:off x="863600" y="58801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작업값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추적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충격파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몸체 직접 충돌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42 (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적용 없음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50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5_1">
            <a:extLst>
              <a:ext uri="{FF2B5EF4-FFF2-40B4-BE49-F238E27FC236}">
                <a16:creationId xmlns:a16="http://schemas.microsoft.com/office/drawing/2014/main" id="{2BB34B90-D98C-3C0C-9DF7-21D0AFBA7DE4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미니 장승 소환과 시간차 연계</a:t>
            </a:r>
          </a:p>
        </p:txBody>
      </p:sp>
      <p:sp>
        <p:nvSpPr>
          <p:cNvPr id="3" name="Text_15_2">
            <a:extLst>
              <a:ext uri="{FF2B5EF4-FFF2-40B4-BE49-F238E27FC236}">
                <a16:creationId xmlns:a16="http://schemas.microsoft.com/office/drawing/2014/main" id="{330CB056-75A1-C6D9-CCA1-44F129F2EFAA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Picture_15_3" descr="본체와 미니 장승의 합동 공격 · 과거 테스트 캡처; Assets/Temp/BossPatterns~/Test_LinkTeleportArrival.png">
            <a:extLst>
              <a:ext uri="{FF2B5EF4-FFF2-40B4-BE49-F238E27FC236}">
                <a16:creationId xmlns:a16="http://schemas.microsoft.com/office/drawing/2014/main" id="{D3B78316-14A0-96D7-62DE-6BF9A639678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1946672"/>
            <a:ext cx="5880100" cy="3307556"/>
          </a:xfrm>
          <a:prstGeom prst="rect">
            <a:avLst/>
          </a:prstGeom>
        </p:spPr>
      </p:pic>
      <p:sp>
        <p:nvSpPr>
          <p:cNvPr id="6" name="Text_15_4">
            <a:extLst>
              <a:ext uri="{FF2B5EF4-FFF2-40B4-BE49-F238E27FC236}">
                <a16:creationId xmlns:a16="http://schemas.microsoft.com/office/drawing/2014/main" id="{E1069571-5D22-919F-6272-B406B9D06542}"/>
              </a:ext>
            </a:extLst>
          </p:cNvPr>
          <p:cNvSpPr txBox="1"/>
          <p:nvPr/>
        </p:nvSpPr>
        <p:spPr>
          <a:xfrm>
            <a:off x="863600" y="5537200"/>
            <a:ext cx="5880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본체와 미니 장승의 합동 공격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과거 테스트 캡처</a:t>
            </a:r>
          </a:p>
        </p:txBody>
      </p:sp>
      <p:sp>
        <p:nvSpPr>
          <p:cNvPr id="7" name="Text_15_5">
            <a:extLst>
              <a:ext uri="{FF2B5EF4-FFF2-40B4-BE49-F238E27FC236}">
                <a16:creationId xmlns:a16="http://schemas.microsoft.com/office/drawing/2014/main" id="{D698031D-977F-7AEF-6687-3E893DDEFFC3}"/>
              </a:ext>
            </a:extLst>
          </p:cNvPr>
          <p:cNvSpPr txBox="1"/>
          <p:nvPr/>
        </p:nvSpPr>
        <p:spPr>
          <a:xfrm>
            <a:off x="7175500" y="1778000"/>
            <a:ext cx="415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 공격 누적 후 소환</a:t>
            </a:r>
          </a:p>
        </p:txBody>
      </p:sp>
      <p:sp>
        <p:nvSpPr>
          <p:cNvPr id="8" name="Text_15_6">
            <a:extLst>
              <a:ext uri="{FF2B5EF4-FFF2-40B4-BE49-F238E27FC236}">
                <a16:creationId xmlns:a16="http://schemas.microsoft.com/office/drawing/2014/main" id="{1798B2EC-B2A3-CCB0-D8DC-C1459B9E7FAD}"/>
              </a:ext>
            </a:extLst>
          </p:cNvPr>
          <p:cNvSpPr txBox="1"/>
          <p:nvPr/>
        </p:nvSpPr>
        <p:spPr>
          <a:xfrm>
            <a:off x="7175500" y="2273300"/>
            <a:ext cx="415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수행 후 미니 장승 소환
한 번에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생존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</a:t>
            </a:r>
          </a:p>
        </p:txBody>
      </p:sp>
      <p:sp>
        <p:nvSpPr>
          <p:cNvPr id="9" name="Text_15_7">
            <a:extLst>
              <a:ext uri="{FF2B5EF4-FFF2-40B4-BE49-F238E27FC236}">
                <a16:creationId xmlns:a16="http://schemas.microsoft.com/office/drawing/2014/main" id="{A9137FDF-4E9E-3C87-24AD-D0E111D117B4}"/>
              </a:ext>
            </a:extLst>
          </p:cNvPr>
          <p:cNvSpPr txBox="1"/>
          <p:nvPr/>
        </p:nvSpPr>
        <p:spPr>
          <a:xfrm>
            <a:off x="7175500" y="3606800"/>
            <a:ext cx="415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본체와 미니 장승의 연계</a:t>
            </a:r>
          </a:p>
        </p:txBody>
      </p:sp>
      <p:sp>
        <p:nvSpPr>
          <p:cNvPr id="10" name="Text_15_8">
            <a:extLst>
              <a:ext uri="{FF2B5EF4-FFF2-40B4-BE49-F238E27FC236}">
                <a16:creationId xmlns:a16="http://schemas.microsoft.com/office/drawing/2014/main" id="{0106D96B-6AAC-50A0-5ADD-0D6FEE5B3C79}"/>
              </a:ext>
            </a:extLst>
          </p:cNvPr>
          <p:cNvSpPr txBox="1"/>
          <p:nvPr/>
        </p:nvSpPr>
        <p:spPr>
          <a:xfrm>
            <a:off x="7175500" y="4102100"/>
            <a:ext cx="415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순간이동으로 자리를 잡고
점프와 본체 타격을 시간차로 연결</a:t>
            </a:r>
          </a:p>
        </p:txBody>
      </p:sp>
      <p:sp>
        <p:nvSpPr>
          <p:cNvPr id="11" name="Text_15_9">
            <a:extLst>
              <a:ext uri="{FF2B5EF4-FFF2-40B4-BE49-F238E27FC236}">
                <a16:creationId xmlns:a16="http://schemas.microsoft.com/office/drawing/2014/main" id="{90BCA9C5-D514-C56F-5A05-66EFF4CA5E25}"/>
              </a:ext>
            </a:extLst>
          </p:cNvPr>
          <p:cNvSpPr txBox="1"/>
          <p:nvPr/>
        </p:nvSpPr>
        <p:spPr>
          <a:xfrm>
            <a:off x="863600" y="58801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미니 장승 체력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 처치 시 남은 미니 장승도 정리하고 소멸 효과 처리</a:t>
            </a:r>
          </a:p>
        </p:txBody>
      </p:sp>
    </p:spTree>
    <p:extLst>
      <p:ext uri="{BB962C8B-B14F-4D97-AF65-F5344CB8AC3E}">
        <p14:creationId xmlns:p14="http://schemas.microsoft.com/office/powerpoint/2010/main" val="928507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6_1">
            <a:extLst>
              <a:ext uri="{FF2B5EF4-FFF2-40B4-BE49-F238E27FC236}">
                <a16:creationId xmlns:a16="http://schemas.microsoft.com/office/drawing/2014/main" id="{96F714ED-B0A5-30BE-F460-A0CB3B99C2A4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UI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와 시연 편의 기능</a:t>
            </a:r>
          </a:p>
        </p:txBody>
      </p:sp>
      <p:sp>
        <p:nvSpPr>
          <p:cNvPr id="3" name="Text_16_2">
            <a:extLst>
              <a:ext uri="{FF2B5EF4-FFF2-40B4-BE49-F238E27FC236}">
                <a16:creationId xmlns:a16="http://schemas.microsoft.com/office/drawing/2014/main" id="{A6FB8244-7352-76E9-2E48-D6698F9260C9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16">
            <a:extLst>
              <a:ext uri="{FF2B5EF4-FFF2-40B4-BE49-F238E27FC236}">
                <a16:creationId xmlns:a16="http://schemas.microsoft.com/office/drawing/2014/main" id="{14E7E813-DE7D-18D6-1D9C-D869B2749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495911"/>
              </p:ext>
            </p:extLst>
          </p:nvPr>
        </p:nvGraphicFramePr>
        <p:xfrm>
          <a:off x="863600" y="1739900"/>
          <a:ext cx="104648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>
                  <a:extLst>
                    <a:ext uri="{9D8B030D-6E8A-4147-A177-3AD203B41FA5}">
                      <a16:colId xmlns:a16="http://schemas.microsoft.com/office/drawing/2014/main" val="1709354471"/>
                    </a:ext>
                  </a:extLst>
                </a:gridCol>
                <a:gridCol w="7505700">
                  <a:extLst>
                    <a:ext uri="{9D8B030D-6E8A-4147-A177-3AD203B41FA5}">
                      <a16:colId xmlns:a16="http://schemas.microsoft.com/office/drawing/2014/main" val="1456322269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 상황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화면이 전달할 정보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45772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산길 여정과 보스 즉시 도전 선택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385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탐색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목적지 방향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거리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기도 상호작용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25968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체력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잔여 횟수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11439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등장 연출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일시정지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건너뛰기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계속하기와 재시작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65328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승리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결과와 재도전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승리 시 경과 시간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명중 횟수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865926"/>
                  </a:ext>
                </a:extLst>
              </a:tr>
            </a:tbl>
          </a:graphicData>
        </a:graphic>
      </p:graphicFrame>
      <p:sp>
        <p:nvSpPr>
          <p:cNvPr id="5" name="Text_16_4">
            <a:extLst>
              <a:ext uri="{FF2B5EF4-FFF2-40B4-BE49-F238E27FC236}">
                <a16:creationId xmlns:a16="http://schemas.microsoft.com/office/drawing/2014/main" id="{9EF171AC-D07F-23F1-50AB-F2EBBC571A5F}"/>
              </a:ext>
            </a:extLst>
          </p:cNvPr>
          <p:cNvSpPr txBox="1"/>
          <p:nvPr/>
        </p:nvSpPr>
        <p:spPr>
          <a:xfrm>
            <a:off x="863600" y="58293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한지색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옥색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금색을 사용한 화면 구성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장비창과 성장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UI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후속 기획</a:t>
            </a:r>
          </a:p>
        </p:txBody>
      </p:sp>
    </p:spTree>
    <p:extLst>
      <p:ext uri="{BB962C8B-B14F-4D97-AF65-F5344CB8AC3E}">
        <p14:creationId xmlns:p14="http://schemas.microsoft.com/office/powerpoint/2010/main" val="3184196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7_1">
            <a:extLst>
              <a:ext uri="{FF2B5EF4-FFF2-40B4-BE49-F238E27FC236}">
                <a16:creationId xmlns:a16="http://schemas.microsoft.com/office/drawing/2014/main" id="{C756FFD7-4263-1542-C6DE-BD4812C1E49A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아트와 사운드 방향</a:t>
            </a:r>
          </a:p>
        </p:txBody>
      </p:sp>
      <p:sp>
        <p:nvSpPr>
          <p:cNvPr id="3" name="Text_17_2">
            <a:extLst>
              <a:ext uri="{FF2B5EF4-FFF2-40B4-BE49-F238E27FC236}">
                <a16:creationId xmlns:a16="http://schemas.microsoft.com/office/drawing/2014/main" id="{42CC08D6-8460-C0BA-8478-F6932BB54806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17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7_3">
            <a:extLst>
              <a:ext uri="{FF2B5EF4-FFF2-40B4-BE49-F238E27FC236}">
                <a16:creationId xmlns:a16="http://schemas.microsoft.com/office/drawing/2014/main" id="{080FADCC-D152-5753-CF46-E7D0A15631A9}"/>
              </a:ext>
            </a:extLst>
          </p:cNvPr>
          <p:cNvSpPr txBox="1"/>
          <p:nvPr/>
        </p:nvSpPr>
        <p:spPr>
          <a:xfrm>
            <a:off x="863600" y="17399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한국풍 </a:t>
            </a:r>
            <a:r>
              <a:rPr lang="en-US" altLang="ko-KR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3D </a:t>
            </a: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카툰 렌더링</a:t>
            </a:r>
          </a:p>
        </p:txBody>
      </p:sp>
      <p:sp>
        <p:nvSpPr>
          <p:cNvPr id="5" name="Text_17_4">
            <a:extLst>
              <a:ext uri="{FF2B5EF4-FFF2-40B4-BE49-F238E27FC236}">
                <a16:creationId xmlns:a16="http://schemas.microsoft.com/office/drawing/2014/main" id="{C4FE50EB-1ACE-8C83-9BBB-06AC79C723D3}"/>
              </a:ext>
            </a:extLst>
          </p:cNvPr>
          <p:cNvSpPr txBox="1"/>
          <p:nvPr/>
        </p:nvSpPr>
        <p:spPr>
          <a:xfrm>
            <a:off x="863600" y="2235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바위산과 소나무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돌계단과 등불
산신각과 산문이 이어지는 수련지</a:t>
            </a:r>
          </a:p>
        </p:txBody>
      </p:sp>
      <p:sp>
        <p:nvSpPr>
          <p:cNvPr id="6" name="Text_17_5">
            <a:extLst>
              <a:ext uri="{FF2B5EF4-FFF2-40B4-BE49-F238E27FC236}">
                <a16:creationId xmlns:a16="http://schemas.microsoft.com/office/drawing/2014/main" id="{8335BE7D-762A-50BA-C1F3-9138C9F12763}"/>
              </a:ext>
            </a:extLst>
          </p:cNvPr>
          <p:cNvSpPr txBox="1"/>
          <p:nvPr/>
        </p:nvSpPr>
        <p:spPr>
          <a:xfrm>
            <a:off x="863600" y="3378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환경과 전투 연출</a:t>
            </a:r>
          </a:p>
        </p:txBody>
      </p:sp>
      <p:sp>
        <p:nvSpPr>
          <p:cNvPr id="7" name="Text_17_6">
            <a:extLst>
              <a:ext uri="{FF2B5EF4-FFF2-40B4-BE49-F238E27FC236}">
                <a16:creationId xmlns:a16="http://schemas.microsoft.com/office/drawing/2014/main" id="{2A8DBC95-762C-7994-F715-F83D973554E0}"/>
              </a:ext>
            </a:extLst>
          </p:cNvPr>
          <p:cNvSpPr txBox="1"/>
          <p:nvPr/>
        </p:nvSpPr>
        <p:spPr>
          <a:xfrm>
            <a:off x="863600" y="3873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높이에 따라 걷히는 안개
부채 궤적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바람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충격과 소멸</a:t>
            </a:r>
          </a:p>
        </p:txBody>
      </p:sp>
      <p:sp>
        <p:nvSpPr>
          <p:cNvPr id="8" name="Text_17_7">
            <a:extLst>
              <a:ext uri="{FF2B5EF4-FFF2-40B4-BE49-F238E27FC236}">
                <a16:creationId xmlns:a16="http://schemas.microsoft.com/office/drawing/2014/main" id="{D34C7AB9-69BD-561C-A643-D392C00E4C35}"/>
              </a:ext>
            </a:extLst>
          </p:cNvPr>
          <p:cNvSpPr txBox="1"/>
          <p:nvPr/>
        </p:nvSpPr>
        <p:spPr>
          <a:xfrm>
            <a:off x="863600" y="51181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75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 합성 효과음과 산바람
후속  전통 악기 기반 </a:t>
            </a:r>
            <a:r>
              <a:rPr lang="en-US" altLang="ko-KR" sz="175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BGM·</a:t>
            </a:r>
            <a:r>
              <a:rPr lang="ko-KR" altLang="en-US" sz="175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믹싱</a:t>
            </a:r>
          </a:p>
        </p:txBody>
      </p:sp>
      <p:pic>
        <p:nvPicPr>
          <p:cNvPr id="10" name="Picture_17_8" descr="등불과 계단의 시선 유도 · 프로젝트 보관 캡처; Assets/Temp/SummitMistReveal~/Opening.png">
            <a:extLst>
              <a:ext uri="{FF2B5EF4-FFF2-40B4-BE49-F238E27FC236}">
                <a16:creationId xmlns:a16="http://schemas.microsoft.com/office/drawing/2014/main" id="{37138B34-FE54-1CF6-499A-16AD139AABB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0" y="1867916"/>
            <a:ext cx="5473700" cy="3503168"/>
          </a:xfrm>
          <a:prstGeom prst="rect">
            <a:avLst/>
          </a:prstGeom>
        </p:spPr>
      </p:pic>
      <p:sp>
        <p:nvSpPr>
          <p:cNvPr id="11" name="Text_17_9">
            <a:extLst>
              <a:ext uri="{FF2B5EF4-FFF2-40B4-BE49-F238E27FC236}">
                <a16:creationId xmlns:a16="http://schemas.microsoft.com/office/drawing/2014/main" id="{3AFB0744-BB01-6BBD-174C-ECA81B1B7F95}"/>
              </a:ext>
            </a:extLst>
          </p:cNvPr>
          <p:cNvSpPr txBox="1"/>
          <p:nvPr/>
        </p:nvSpPr>
        <p:spPr>
          <a:xfrm>
            <a:off x="5854700" y="5575300"/>
            <a:ext cx="5473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등불과 계단의 시선 유도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</p:spTree>
    <p:extLst>
      <p:ext uri="{BB962C8B-B14F-4D97-AF65-F5344CB8AC3E}">
        <p14:creationId xmlns:p14="http://schemas.microsoft.com/office/powerpoint/2010/main" val="1987947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8_1">
            <a:extLst>
              <a:ext uri="{FF2B5EF4-FFF2-40B4-BE49-F238E27FC236}">
                <a16:creationId xmlns:a16="http://schemas.microsoft.com/office/drawing/2014/main" id="{0079F10B-BE5F-0214-AE50-C10755913B73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개정본 이후의 프로젝트 현황</a:t>
            </a:r>
          </a:p>
        </p:txBody>
      </p:sp>
      <p:sp>
        <p:nvSpPr>
          <p:cNvPr id="3" name="Text_18_2">
            <a:extLst>
              <a:ext uri="{FF2B5EF4-FFF2-40B4-BE49-F238E27FC236}">
                <a16:creationId xmlns:a16="http://schemas.microsoft.com/office/drawing/2014/main" id="{1D6CBCF2-0660-2424-6D03-BF8AE7EE0A09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18">
            <a:extLst>
              <a:ext uri="{FF2B5EF4-FFF2-40B4-BE49-F238E27FC236}">
                <a16:creationId xmlns:a16="http://schemas.microsoft.com/office/drawing/2014/main" id="{EEA936A3-F9A3-0C87-82D6-8051FE1EF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253788"/>
              </p:ext>
            </p:extLst>
          </p:nvPr>
        </p:nvGraphicFramePr>
        <p:xfrm>
          <a:off x="863600" y="1714500"/>
          <a:ext cx="10464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419481405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686781796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1751948997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영역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개정본 </a:t>
                      </a:r>
                      <a:r>
                        <a:rPr lang="en-US" altLang="ko-KR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v0.2</a:t>
                      </a:r>
                      <a:endParaRPr lang="ko-KR" altLang="en-US" sz="1700" b="1">
                        <a:solidFill>
                          <a:srgbClr val="FFF9E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저장된 프로젝트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326215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부채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VFX·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바람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별도 테스트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본편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최적화 씬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98691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확장 보스 패턴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별도 테스트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본편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최적화 씬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196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강피격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기상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사망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후속 통합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실제 피격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패배 상태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3716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회복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상세 기재 없음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회복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산신각 충전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518681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활성 빌드 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SampleScene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MountainPass_Optimized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440207"/>
                  </a:ext>
                </a:extLst>
              </a:tr>
            </a:tbl>
          </a:graphicData>
        </a:graphic>
      </p:graphicFrame>
      <p:sp>
        <p:nvSpPr>
          <p:cNvPr id="5" name="Text_18_4">
            <a:extLst>
              <a:ext uri="{FF2B5EF4-FFF2-40B4-BE49-F238E27FC236}">
                <a16:creationId xmlns:a16="http://schemas.microsoft.com/office/drawing/2014/main" id="{43C8257A-C8B3-CA23-657F-41161AFDA5CB}"/>
              </a:ext>
            </a:extLst>
          </p:cNvPr>
          <p:cNvSpPr txBox="1"/>
          <p:nvPr/>
        </p:nvSpPr>
        <p:spPr>
          <a:xfrm>
            <a:off x="863600" y="58293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「씬 연결」은 저장된 코드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참조 확인을 뜻한다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 안정성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배포 완성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성능 검증과 구분한다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1375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9_1">
            <a:extLst>
              <a:ext uri="{FF2B5EF4-FFF2-40B4-BE49-F238E27FC236}">
                <a16:creationId xmlns:a16="http://schemas.microsoft.com/office/drawing/2014/main" id="{692ACE6F-1335-E2B8-46AC-5E1DFB04223C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1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차 시연 완료 기준</a:t>
            </a:r>
          </a:p>
        </p:txBody>
      </p:sp>
      <p:sp>
        <p:nvSpPr>
          <p:cNvPr id="3" name="Text_19_2">
            <a:extLst>
              <a:ext uri="{FF2B5EF4-FFF2-40B4-BE49-F238E27FC236}">
                <a16:creationId xmlns:a16="http://schemas.microsoft.com/office/drawing/2014/main" id="{4D0540DD-0C67-C6E6-68A9-8C71143329F1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19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9_3">
            <a:extLst>
              <a:ext uri="{FF2B5EF4-FFF2-40B4-BE49-F238E27FC236}">
                <a16:creationId xmlns:a16="http://schemas.microsoft.com/office/drawing/2014/main" id="{035834A6-242D-11AB-6F90-459FC52A75CB}"/>
              </a:ext>
            </a:extLst>
          </p:cNvPr>
          <p:cNvSpPr txBox="1"/>
          <p:nvPr/>
        </p:nvSpPr>
        <p:spPr>
          <a:xfrm>
            <a:off x="863600" y="16891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하나의 실행본에서 시작부터 재도전까지 이어지는 상태</a:t>
            </a:r>
          </a:p>
        </p:txBody>
      </p:sp>
      <p:graphicFrame>
        <p:nvGraphicFramePr>
          <p:cNvPr id="5" name="Table_19">
            <a:extLst>
              <a:ext uri="{FF2B5EF4-FFF2-40B4-BE49-F238E27FC236}">
                <a16:creationId xmlns:a16="http://schemas.microsoft.com/office/drawing/2014/main" id="{1503BBF5-A3C8-EFBF-DEF5-3558009FA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00694"/>
              </p:ext>
            </p:extLst>
          </p:nvPr>
        </p:nvGraphicFramePr>
        <p:xfrm>
          <a:off x="863600" y="2565400"/>
          <a:ext cx="104648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3064213477"/>
                    </a:ext>
                  </a:extLst>
                </a:gridCol>
                <a:gridCol w="7823200">
                  <a:extLst>
                    <a:ext uri="{9D8B030D-6E8A-4147-A177-3AD203B41FA5}">
                      <a16:colId xmlns:a16="http://schemas.microsoft.com/office/drawing/2014/main" val="3443688545"/>
                    </a:ext>
                  </a:extLst>
                </a:gridCol>
              </a:tblGrid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확인 구간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조건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623128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진입과 탐색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일반 여정과 보스 즉시 도전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막힘 없는 이동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776705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거점과 전환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충전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산문 통과와 등장 연출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250026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보이는 공격과 피해 일치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회피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반격 기회 확보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259683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반복 플레이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승리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패배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낙하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일시정지 후 정상 재도전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25800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등록된 최적화 씬으로 빌드 후 같은 흐름 확인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193173"/>
                  </a:ext>
                </a:extLst>
              </a:tr>
            </a:tbl>
          </a:graphicData>
        </a:graphic>
      </p:graphicFrame>
      <p:sp>
        <p:nvSpPr>
          <p:cNvPr id="6" name="Text_19_5">
            <a:extLst>
              <a:ext uri="{FF2B5EF4-FFF2-40B4-BE49-F238E27FC236}">
                <a16:creationId xmlns:a16="http://schemas.microsoft.com/office/drawing/2014/main" id="{34DEE224-C26B-986F-B00B-4BD71AA27408}"/>
              </a:ext>
            </a:extLst>
          </p:cNvPr>
          <p:cNvSpPr txBox="1"/>
          <p:nvPr/>
        </p:nvSpPr>
        <p:spPr>
          <a:xfrm>
            <a:off x="863600" y="58928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시연 분량과 잔여 일정은 통합된 흐름을 실제로 플레이한 뒤 다시 산정한다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3374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0_1">
            <a:extLst>
              <a:ext uri="{FF2B5EF4-FFF2-40B4-BE49-F238E27FC236}">
                <a16:creationId xmlns:a16="http://schemas.microsoft.com/office/drawing/2014/main" id="{985518F8-FEF2-DDDB-47D0-F9320BD472AC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후속 작업의 우선순위</a:t>
            </a:r>
          </a:p>
        </p:txBody>
      </p:sp>
      <p:sp>
        <p:nvSpPr>
          <p:cNvPr id="3" name="Text_20_2">
            <a:extLst>
              <a:ext uri="{FF2B5EF4-FFF2-40B4-BE49-F238E27FC236}">
                <a16:creationId xmlns:a16="http://schemas.microsoft.com/office/drawing/2014/main" id="{5F17FE32-5767-7FE1-2B7C-19BAA993563A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0_3">
            <a:extLst>
              <a:ext uri="{FF2B5EF4-FFF2-40B4-BE49-F238E27FC236}">
                <a16:creationId xmlns:a16="http://schemas.microsoft.com/office/drawing/2014/main" id="{E20E8D12-E1A7-DAB9-2AD7-16AE9B3FAA12}"/>
              </a:ext>
            </a:extLst>
          </p:cNvPr>
          <p:cNvSpPr txBox="1"/>
          <p:nvPr/>
        </p:nvSpPr>
        <p:spPr>
          <a:xfrm>
            <a:off x="863600" y="16891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7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통합 이후의 검증과 조정에 집중</a:t>
            </a:r>
          </a:p>
        </p:txBody>
      </p:sp>
      <p:graphicFrame>
        <p:nvGraphicFramePr>
          <p:cNvPr id="5" name="Table_20">
            <a:extLst>
              <a:ext uri="{FF2B5EF4-FFF2-40B4-BE49-F238E27FC236}">
                <a16:creationId xmlns:a16="http://schemas.microsoft.com/office/drawing/2014/main" id="{95BB9B57-F396-D812-381C-D8364F25D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282241"/>
              </p:ext>
            </p:extLst>
          </p:nvPr>
        </p:nvGraphicFramePr>
        <p:xfrm>
          <a:off x="863600" y="2603500"/>
          <a:ext cx="10464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18143506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4119764514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413900309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순서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작업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확인할 결과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297658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판정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난이도 조정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VFX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와 피해 일치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전조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반격 시간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67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반복 플레이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가독성 점검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재도전 안정성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시야와 입력 응답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12672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배포 실행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 측정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실행본 동작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프레임과 메모리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82802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사운드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추가 도술 검토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음악 교체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역할과 자원 규칙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753056"/>
                  </a:ext>
                </a:extLst>
              </a:tr>
            </a:tbl>
          </a:graphicData>
        </a:graphic>
      </p:graphicFrame>
      <p:sp>
        <p:nvSpPr>
          <p:cNvPr id="6" name="Text_20_5">
            <a:extLst>
              <a:ext uri="{FF2B5EF4-FFF2-40B4-BE49-F238E27FC236}">
                <a16:creationId xmlns:a16="http://schemas.microsoft.com/office/drawing/2014/main" id="{5393A91A-E3EC-53C7-7A4C-45ADED7F01B2}"/>
              </a:ext>
            </a:extLst>
          </p:cNvPr>
          <p:cNvSpPr txBox="1"/>
          <p:nvPr/>
        </p:nvSpPr>
        <p:spPr>
          <a:xfrm>
            <a:off x="863600" y="59055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현황을 반영한 우선순위 제안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60FPS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제한 설정은 실제 성능 유지의 검증 결과가 아니다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9219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1_1">
            <a:extLst>
              <a:ext uri="{FF2B5EF4-FFF2-40B4-BE49-F238E27FC236}">
                <a16:creationId xmlns:a16="http://schemas.microsoft.com/office/drawing/2014/main" id="{EAA8773F-1AF6-EEB1-9B2E-6F0EB11B6293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장기 확장 방향</a:t>
            </a:r>
          </a:p>
        </p:txBody>
      </p:sp>
      <p:sp>
        <p:nvSpPr>
          <p:cNvPr id="3" name="Text_21_2">
            <a:extLst>
              <a:ext uri="{FF2B5EF4-FFF2-40B4-BE49-F238E27FC236}">
                <a16:creationId xmlns:a16="http://schemas.microsoft.com/office/drawing/2014/main" id="{2AAE2960-72D2-0F19-26C7-E26BB2FBFCA5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21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1_3">
            <a:extLst>
              <a:ext uri="{FF2B5EF4-FFF2-40B4-BE49-F238E27FC236}">
                <a16:creationId xmlns:a16="http://schemas.microsoft.com/office/drawing/2014/main" id="{AA13E1BA-4C25-E48F-CAC0-B11D84307C16}"/>
              </a:ext>
            </a:extLst>
          </p:cNvPr>
          <p:cNvSpPr txBox="1"/>
          <p:nvPr/>
        </p:nvSpPr>
        <p:spPr>
          <a:xfrm>
            <a:off x="863600" y="17653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도술과 전투의 확장</a:t>
            </a:r>
          </a:p>
        </p:txBody>
      </p:sp>
      <p:sp>
        <p:nvSpPr>
          <p:cNvPr id="5" name="Text_21_4">
            <a:extLst>
              <a:ext uri="{FF2B5EF4-FFF2-40B4-BE49-F238E27FC236}">
                <a16:creationId xmlns:a16="http://schemas.microsoft.com/office/drawing/2014/main" id="{0B84A236-641B-1CCC-A990-BC4E48B9893F}"/>
              </a:ext>
            </a:extLst>
          </p:cNvPr>
          <p:cNvSpPr txBox="1"/>
          <p:nvPr/>
        </p:nvSpPr>
        <p:spPr>
          <a:xfrm>
            <a:off x="863600" y="2260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부채와 바람을 발전시키고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독립 도술의 역할과 자원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재사용 규칙을 정한다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_21_5">
            <a:extLst>
              <a:ext uri="{FF2B5EF4-FFF2-40B4-BE49-F238E27FC236}">
                <a16:creationId xmlns:a16="http://schemas.microsoft.com/office/drawing/2014/main" id="{FEFDC759-1348-7DDC-724C-2BE18566EB31}"/>
              </a:ext>
            </a:extLst>
          </p:cNvPr>
          <p:cNvSpPr txBox="1"/>
          <p:nvPr/>
        </p:nvSpPr>
        <p:spPr>
          <a:xfrm>
            <a:off x="863600" y="31750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현실과 영계의 차이 확대</a:t>
            </a:r>
          </a:p>
        </p:txBody>
      </p:sp>
      <p:sp>
        <p:nvSpPr>
          <p:cNvPr id="7" name="Text_21_6">
            <a:extLst>
              <a:ext uri="{FF2B5EF4-FFF2-40B4-BE49-F238E27FC236}">
                <a16:creationId xmlns:a16="http://schemas.microsoft.com/office/drawing/2014/main" id="{AC40D812-7A51-C255-9F22-DA77404756AC}"/>
              </a:ext>
            </a:extLst>
          </p:cNvPr>
          <p:cNvSpPr txBox="1"/>
          <p:nvPr/>
        </p:nvSpPr>
        <p:spPr>
          <a:xfrm>
            <a:off x="863600" y="36703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같은 장소의 환경 변화에서 나아가 지형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기믹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 배치의 차이를 만든다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21_7">
            <a:extLst>
              <a:ext uri="{FF2B5EF4-FFF2-40B4-BE49-F238E27FC236}">
                <a16:creationId xmlns:a16="http://schemas.microsoft.com/office/drawing/2014/main" id="{2AE9C9CF-6016-D363-6018-CC4D0A6C1F83}"/>
              </a:ext>
            </a:extLst>
          </p:cNvPr>
          <p:cNvSpPr txBox="1"/>
          <p:nvPr/>
        </p:nvSpPr>
        <p:spPr>
          <a:xfrm>
            <a:off x="863600" y="45847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다음 수련과 성장</a:t>
            </a:r>
          </a:p>
        </p:txBody>
      </p:sp>
      <p:sp>
        <p:nvSpPr>
          <p:cNvPr id="9" name="Text_21_8">
            <a:extLst>
              <a:ext uri="{FF2B5EF4-FFF2-40B4-BE49-F238E27FC236}">
                <a16:creationId xmlns:a16="http://schemas.microsoft.com/office/drawing/2014/main" id="{1EDAB236-EBF8-69F4-D51B-13AAD03F0D1A}"/>
              </a:ext>
            </a:extLst>
          </p:cNvPr>
          <p:cNvSpPr txBox="1"/>
          <p:nvPr/>
        </p:nvSpPr>
        <p:spPr>
          <a:xfrm>
            <a:off x="863600" y="50800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한국 설화 기반 지역과 보스를 추가하고 탐험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수집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퀘스트를 도입한다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_21_9">
            <a:extLst>
              <a:ext uri="{FF2B5EF4-FFF2-40B4-BE49-F238E27FC236}">
                <a16:creationId xmlns:a16="http://schemas.microsoft.com/office/drawing/2014/main" id="{10D0B82F-6901-8E71-844F-AE21ACD0B94D}"/>
              </a:ext>
            </a:extLst>
          </p:cNvPr>
          <p:cNvSpPr txBox="1"/>
          <p:nvPr/>
        </p:nvSpPr>
        <p:spPr>
          <a:xfrm>
            <a:off x="863600" y="58547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한 구간의 경험을 안정화한 뒤 확장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출시 플랫폼과 저장 구조는 별도 결정</a:t>
            </a:r>
          </a:p>
        </p:txBody>
      </p:sp>
    </p:spTree>
    <p:extLst>
      <p:ext uri="{BB962C8B-B14F-4D97-AF65-F5344CB8AC3E}">
        <p14:creationId xmlns:p14="http://schemas.microsoft.com/office/powerpoint/2010/main" val="112541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2_1">
            <a:extLst>
              <a:ext uri="{FF2B5EF4-FFF2-40B4-BE49-F238E27FC236}">
                <a16:creationId xmlns:a16="http://schemas.microsoft.com/office/drawing/2014/main" id="{C93B9439-80FB-2A89-079E-1AF932430188}"/>
              </a:ext>
            </a:extLst>
          </p:cNvPr>
          <p:cNvSpPr txBox="1"/>
          <p:nvPr/>
        </p:nvSpPr>
        <p:spPr>
          <a:xfrm>
            <a:off x="863600" y="609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부록 </a:t>
            </a: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· 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자료와 확인 범위</a:t>
            </a:r>
          </a:p>
        </p:txBody>
      </p:sp>
      <p:sp>
        <p:nvSpPr>
          <p:cNvPr id="3" name="Text_22_2">
            <a:extLst>
              <a:ext uri="{FF2B5EF4-FFF2-40B4-BE49-F238E27FC236}">
                <a16:creationId xmlns:a16="http://schemas.microsoft.com/office/drawing/2014/main" id="{A0AC85CA-4DD0-C6D3-BFBB-EAB377E4A323}"/>
              </a:ext>
            </a:extLst>
          </p:cNvPr>
          <p:cNvSpPr txBox="1"/>
          <p:nvPr/>
        </p:nvSpPr>
        <p:spPr>
          <a:xfrm>
            <a:off x="11010900" y="63881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22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2_3">
            <a:extLst>
              <a:ext uri="{FF2B5EF4-FFF2-40B4-BE49-F238E27FC236}">
                <a16:creationId xmlns:a16="http://schemas.microsoft.com/office/drawing/2014/main" id="{CA856D84-736C-F09D-A6DF-2392CFFC7B45}"/>
              </a:ext>
            </a:extLst>
          </p:cNvPr>
          <p:cNvSpPr txBox="1"/>
          <p:nvPr/>
        </p:nvSpPr>
        <p:spPr>
          <a:xfrm>
            <a:off x="863600" y="1739900"/>
            <a:ext cx="4686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 기준</a:t>
            </a:r>
          </a:p>
        </p:txBody>
      </p:sp>
      <p:sp>
        <p:nvSpPr>
          <p:cNvPr id="5" name="Text_22_4">
            <a:extLst>
              <a:ext uri="{FF2B5EF4-FFF2-40B4-BE49-F238E27FC236}">
                <a16:creationId xmlns:a16="http://schemas.microsoft.com/office/drawing/2014/main" id="{7038229C-0A33-9C9F-33E4-3D6042F66008}"/>
              </a:ext>
            </a:extLst>
          </p:cNvPr>
          <p:cNvSpPr txBox="1"/>
          <p:nvPr/>
        </p:nvSpPr>
        <p:spPr>
          <a:xfrm>
            <a:off x="863600" y="2235200"/>
            <a:ext cx="4686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천지인 기획서 개정본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v0.2
2026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개정</a:t>
            </a:r>
          </a:p>
        </p:txBody>
      </p:sp>
      <p:sp>
        <p:nvSpPr>
          <p:cNvPr id="6" name="Text_22_5">
            <a:extLst>
              <a:ext uri="{FF2B5EF4-FFF2-40B4-BE49-F238E27FC236}">
                <a16:creationId xmlns:a16="http://schemas.microsoft.com/office/drawing/2014/main" id="{1014E950-ABFF-9EF9-E87B-0BE021CFFD25}"/>
              </a:ext>
            </a:extLst>
          </p:cNvPr>
          <p:cNvSpPr txBox="1"/>
          <p:nvPr/>
        </p:nvSpPr>
        <p:spPr>
          <a:xfrm>
            <a:off x="6324600" y="17399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기준</a:t>
            </a:r>
          </a:p>
        </p:txBody>
      </p:sp>
      <p:sp>
        <p:nvSpPr>
          <p:cNvPr id="7" name="Text_22_6">
            <a:extLst>
              <a:ext uri="{FF2B5EF4-FFF2-40B4-BE49-F238E27FC236}">
                <a16:creationId xmlns:a16="http://schemas.microsoft.com/office/drawing/2014/main" id="{F82270BA-2FD3-63B0-B5B8-CDDF382821B7}"/>
              </a:ext>
            </a:extLst>
          </p:cNvPr>
          <p:cNvSpPr txBox="1"/>
          <p:nvPr/>
        </p:nvSpPr>
        <p:spPr>
          <a:xfrm>
            <a:off x="6324600" y="22352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27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저장 상태
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MountainPass / MountainPass_Optimized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22_7">
            <a:extLst>
              <a:ext uri="{FF2B5EF4-FFF2-40B4-BE49-F238E27FC236}">
                <a16:creationId xmlns:a16="http://schemas.microsoft.com/office/drawing/2014/main" id="{1779BEB4-4BA2-7629-34CF-CBEA4469C3A5}"/>
              </a:ext>
            </a:extLst>
          </p:cNvPr>
          <p:cNvSpPr txBox="1"/>
          <p:nvPr/>
        </p:nvSpPr>
        <p:spPr>
          <a:xfrm>
            <a:off x="863600" y="35306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확인 자료</a:t>
            </a:r>
          </a:p>
        </p:txBody>
      </p:sp>
      <p:sp>
        <p:nvSpPr>
          <p:cNvPr id="9" name="Text_22_8">
            <a:extLst>
              <a:ext uri="{FF2B5EF4-FFF2-40B4-BE49-F238E27FC236}">
                <a16:creationId xmlns:a16="http://schemas.microsoft.com/office/drawing/2014/main" id="{E84CCA57-2669-3D9D-3C2A-158753CD2B82}"/>
              </a:ext>
            </a:extLst>
          </p:cNvPr>
          <p:cNvSpPr txBox="1"/>
          <p:nvPr/>
        </p:nvSpPr>
        <p:spPr>
          <a:xfrm>
            <a:off x="863600" y="41148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씬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프리팹의 컴포넌트와 참조
진행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전투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보스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카메라 코드 및 설정값
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Unity 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버전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패키지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활성 빌드 씬</a:t>
            </a:r>
          </a:p>
        </p:txBody>
      </p:sp>
      <p:sp>
        <p:nvSpPr>
          <p:cNvPr id="10" name="Text_22_9">
            <a:extLst>
              <a:ext uri="{FF2B5EF4-FFF2-40B4-BE49-F238E27FC236}">
                <a16:creationId xmlns:a16="http://schemas.microsoft.com/office/drawing/2014/main" id="{64D764AF-FA42-CF3D-C996-3720A0743E40}"/>
              </a:ext>
            </a:extLst>
          </p:cNvPr>
          <p:cNvSpPr txBox="1"/>
          <p:nvPr/>
        </p:nvSpPr>
        <p:spPr>
          <a:xfrm>
            <a:off x="863600" y="58801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플레이 실행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배포 빌드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실측 성능은 이번 확인에 포함하지 않았다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상세 경로는 슬라이드 노트에 기록했다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319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4141</Words>
  <Application>Microsoft Office PowerPoint</Application>
  <PresentationFormat>사용자 지정</PresentationFormat>
  <Paragraphs>318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Noto Sans KR</vt:lpstr>
      <vt:lpstr>Noto Serif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MBC</dc:creator>
  <cp:lastModifiedBy>MBC</cp:lastModifiedBy>
  <cp:revision>1</cp:revision>
  <dcterms:created xsi:type="dcterms:W3CDTF">2026-10-27T06:11:36Z</dcterms:created>
  <dcterms:modified xsi:type="dcterms:W3CDTF">2026-10-27T06:11:36Z</dcterms:modified>
</cp:coreProperties>
</file>