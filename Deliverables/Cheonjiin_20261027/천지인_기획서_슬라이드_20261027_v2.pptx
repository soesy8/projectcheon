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80DB3-2FDD-4892-839A-981B98ADFE4C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E9B13-CC69-44B0-ACEB-E24B1E880A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16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표지</a:t>
            </a:r>
            <a:r>
              <a:rPr lang="en-US" altLang="ko-KR"/>
              <a:t>. </a:t>
            </a:r>
            <a:r>
              <a:rPr lang="ko-KR" altLang="en-US"/>
              <a:t>팀 부채</a:t>
            </a:r>
            <a:r>
              <a:rPr lang="en-US" altLang="ko-KR"/>
              <a:t>, </a:t>
            </a:r>
            <a:r>
              <a:rPr lang="ko-KR" altLang="en-US"/>
              <a:t>팀장</a:t>
            </a:r>
            <a:r>
              <a:rPr lang="en-US" altLang="ko-KR"/>
              <a:t>·</a:t>
            </a:r>
            <a:r>
              <a:rPr lang="ko-KR" altLang="en-US"/>
              <a:t>개발 김민성</a:t>
            </a:r>
            <a:r>
              <a:rPr lang="en-US" altLang="ko-KR"/>
              <a:t>. </a:t>
            </a:r>
            <a:r>
              <a:rPr lang="ko-KR" altLang="en-US"/>
              <a:t>프로젝트 가제는 천지인</a:t>
            </a:r>
            <a:r>
              <a:rPr lang="en-US" altLang="ko-KR"/>
              <a:t>(</a:t>
            </a:r>
            <a:r>
              <a:rPr lang="ko-KR" altLang="en-US"/>
              <a:t>天地人</a:t>
            </a:r>
            <a:r>
              <a:rPr lang="en-US" altLang="ko-KR"/>
              <a:t>), </a:t>
            </a:r>
            <a:r>
              <a:rPr lang="ko-KR" altLang="en-US"/>
              <a:t>현재 시연명은 천 </a:t>
            </a:r>
            <a:r>
              <a:rPr lang="en-US" altLang="ko-KR"/>
              <a:t>/ CHEON, </a:t>
            </a:r>
            <a:r>
              <a:rPr lang="ko-KR" altLang="en-US"/>
              <a:t>시연 부제는 산문을 지키는 자다</a:t>
            </a:r>
            <a:r>
              <a:rPr lang="en-US" altLang="ko-KR"/>
              <a:t>. </a:t>
            </a:r>
            <a:r>
              <a:rPr lang="ko-KR" altLang="en-US"/>
              <a:t>프로젝트 전체 기획과 현재 한 구간 시연을 함께 설명한다</a:t>
            </a:r>
            <a:r>
              <a:rPr lang="en-US" altLang="ko-KR"/>
              <a:t>. </a:t>
            </a:r>
            <a:r>
              <a:rPr lang="ko-KR" altLang="en-US"/>
              <a:t>기획서 </a:t>
            </a:r>
            <a:r>
              <a:rPr lang="en-US" altLang="ko-KR"/>
              <a:t>0~2</a:t>
            </a:r>
            <a:r>
              <a:rPr lang="ko-KR" altLang="en-US"/>
              <a:t>장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218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1~2</a:t>
            </a:r>
            <a:r>
              <a:rPr lang="ko-KR" altLang="en-US"/>
              <a:t>장</a:t>
            </a:r>
            <a:r>
              <a:rPr lang="en-US" altLang="ko-KR"/>
              <a:t>. 3D </a:t>
            </a:r>
            <a:r>
              <a:rPr lang="ko-KR" altLang="en-US"/>
              <a:t>실시간 전술형 액션 </a:t>
            </a:r>
            <a:r>
              <a:rPr lang="en-US" altLang="ko-KR"/>
              <a:t>RPG. </a:t>
            </a:r>
            <a:r>
              <a:rPr lang="ko-KR" altLang="en-US"/>
              <a:t>한국 설화와 민간신앙</a:t>
            </a:r>
            <a:r>
              <a:rPr lang="en-US" altLang="ko-KR"/>
              <a:t>, </a:t>
            </a:r>
            <a:r>
              <a:rPr lang="ko-KR" altLang="en-US"/>
              <a:t>견습 도사와 부채</a:t>
            </a:r>
            <a:r>
              <a:rPr lang="en-US" altLang="ko-KR"/>
              <a:t>, </a:t>
            </a:r>
            <a:r>
              <a:rPr lang="ko-KR" altLang="en-US"/>
              <a:t>짧은 탐색 및 보스전 시연이 중심이다</a:t>
            </a:r>
            <a:r>
              <a:rPr lang="en-US" altLang="ko-KR"/>
              <a:t>. PC </a:t>
            </a:r>
            <a:r>
              <a:rPr lang="ko-KR" altLang="en-US"/>
              <a:t>키보드</a:t>
            </a:r>
            <a:r>
              <a:rPr lang="en-US" altLang="ko-KR"/>
              <a:t>·</a:t>
            </a:r>
            <a:r>
              <a:rPr lang="ko-KR" altLang="en-US"/>
              <a:t>마우스는 현재 조작 기준이며 최종 출시 플랫폼은 미정이다</a:t>
            </a:r>
            <a:r>
              <a:rPr lang="en-US" altLang="ko-KR"/>
              <a:t>. </a:t>
            </a:r>
            <a:r>
              <a:rPr lang="ko-KR" altLang="en-US"/>
              <a:t>개발 환경은 </a:t>
            </a:r>
            <a:r>
              <a:rPr lang="en-US" altLang="ko-KR"/>
              <a:t>ProjectSettings/ProjectVersion.txt </a:t>
            </a:r>
            <a:r>
              <a:rPr lang="ko-KR" altLang="en-US"/>
              <a:t>및 </a:t>
            </a:r>
            <a:r>
              <a:rPr lang="en-US" altLang="ko-KR"/>
              <a:t>Packages/manifest.json</a:t>
            </a:r>
            <a:r>
              <a:rPr lang="ko-KR" altLang="en-US"/>
              <a:t>을 확인했다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258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2</a:t>
            </a:r>
            <a:r>
              <a:rPr lang="ko-KR" altLang="en-US"/>
              <a:t>장 설계 원칙</a:t>
            </a:r>
            <a:r>
              <a:rPr lang="en-US" altLang="ko-KR"/>
              <a:t>, 3</a:t>
            </a:r>
            <a:r>
              <a:rPr lang="ko-KR" altLang="en-US"/>
              <a:t>장 세계관</a:t>
            </a:r>
            <a:r>
              <a:rPr lang="en-US" altLang="ko-KR"/>
              <a:t>, 5~7</a:t>
            </a:r>
            <a:r>
              <a:rPr lang="ko-KR" altLang="en-US"/>
              <a:t>장 플레이어</a:t>
            </a:r>
            <a:r>
              <a:rPr lang="en-US" altLang="ko-KR"/>
              <a:t>·</a:t>
            </a:r>
            <a:r>
              <a:rPr lang="ko-KR" altLang="en-US"/>
              <a:t>전투</a:t>
            </a:r>
            <a:r>
              <a:rPr lang="en-US" altLang="ko-KR"/>
              <a:t>. </a:t>
            </a:r>
            <a:r>
              <a:rPr lang="ko-KR" altLang="en-US"/>
              <a:t>전통 소재가 장식으로만 머무르지 않도록 각 사물에 플레이 역할을 부여한다</a:t>
            </a:r>
            <a:r>
              <a:rPr lang="en-US" altLang="ko-KR"/>
              <a:t>. </a:t>
            </a:r>
            <a:r>
              <a:rPr lang="ko-KR" altLang="en-US"/>
              <a:t>산신각의 거점 기능과 장승의 관문 역할을 설명한다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351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3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현실과 영적 세계는 같은 지형 위에 겹쳐 존재한다</a:t>
            </a:r>
            <a:r>
              <a:rPr lang="en-US" altLang="ko-KR"/>
              <a:t>. </a:t>
            </a:r>
            <a:r>
              <a:rPr lang="ko-KR" altLang="en-US"/>
              <a:t>현재는 산문 통과 후 같은 씬의 배경</a:t>
            </a:r>
            <a:r>
              <a:rPr lang="en-US" altLang="ko-KR"/>
              <a:t>·</a:t>
            </a:r>
            <a:r>
              <a:rPr lang="ko-KR" altLang="en-US"/>
              <a:t>조명</a:t>
            </a:r>
            <a:r>
              <a:rPr lang="en-US" altLang="ko-KR"/>
              <a:t>·</a:t>
            </a:r>
            <a:r>
              <a:rPr lang="ko-KR" altLang="en-US"/>
              <a:t>안개</a:t>
            </a:r>
            <a:r>
              <a:rPr lang="en-US" altLang="ko-KR"/>
              <a:t>·</a:t>
            </a:r>
            <a:r>
              <a:rPr lang="ko-KR" altLang="en-US"/>
              <a:t>하늘 색을 전환한다</a:t>
            </a:r>
            <a:r>
              <a:rPr lang="en-US" altLang="ko-KR"/>
              <a:t>. </a:t>
            </a:r>
            <a:r>
              <a:rPr lang="ko-KR" altLang="en-US"/>
              <a:t>별도 영계 지형이나 양쪽 세계를 동시에 보이는 포털 미리보기의 완성으로 해석하지 않는다</a:t>
            </a:r>
            <a:r>
              <a:rPr lang="en-US" altLang="ko-KR"/>
              <a:t>. </a:t>
            </a:r>
            <a:r>
              <a:rPr lang="ko-KR" altLang="en-US"/>
              <a:t>근거</a:t>
            </a:r>
            <a:r>
              <a:rPr lang="en-US" altLang="ko-KR"/>
              <a:t>: PassWorldTransition.cs. </a:t>
            </a:r>
            <a:r>
              <a:rPr lang="ko-KR" altLang="en-US"/>
              <a:t>이미지</a:t>
            </a:r>
            <a:r>
              <a:rPr lang="en-US" altLang="ko-KR"/>
              <a:t>: Assets/Temp/SummitMistReveal~/Summit.png </a:t>
            </a:r>
            <a:r>
              <a:rPr lang="ko-KR" altLang="en-US"/>
              <a:t>및 </a:t>
            </a:r>
            <a:r>
              <a:rPr lang="en-US" altLang="ko-KR"/>
              <a:t>Assets/Temp/BossPatterns~/Test_BossPatterns_Play.png. </a:t>
            </a:r>
            <a:r>
              <a:rPr lang="ko-KR" altLang="en-US"/>
              <a:t>보관 화면은 과거 시점이다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702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4</a:t>
            </a:r>
            <a:r>
              <a:rPr lang="ko-KR" altLang="en-US"/>
              <a:t>장</a:t>
            </a:r>
            <a:r>
              <a:rPr lang="en-US" altLang="ko-KR"/>
              <a:t>. PassGameFlow.cs, PassShrineInteraction.cs, PassBossEntrance.cs</a:t>
            </a:r>
            <a:r>
              <a:rPr lang="ko-KR" altLang="en-US"/>
              <a:t>의 현재 연결을 확인했다</a:t>
            </a:r>
            <a:r>
              <a:rPr lang="en-US" altLang="ko-KR"/>
              <a:t>. </a:t>
            </a:r>
            <a:r>
              <a:rPr lang="ko-KR" altLang="en-US"/>
              <a:t>기도는 회복과 체크포인트를 제공하지만 산문 통과의 강제 선행 조건은 아니다</a:t>
            </a:r>
            <a:r>
              <a:rPr lang="en-US" altLang="ko-KR"/>
              <a:t>. </a:t>
            </a:r>
            <a:r>
              <a:rPr lang="ko-KR" altLang="en-US"/>
              <a:t>시작 화면의 보스 즉시 도전은 일반 산길 구간을 건너뛴다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44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3~4</a:t>
            </a:r>
            <a:r>
              <a:rPr lang="ko-KR" altLang="en-US"/>
              <a:t>장</a:t>
            </a:r>
            <a:r>
              <a:rPr lang="en-US" altLang="ko-KR"/>
              <a:t>, 8</a:t>
            </a:r>
            <a:r>
              <a:rPr lang="ko-KR" altLang="en-US"/>
              <a:t>장</a:t>
            </a:r>
            <a:r>
              <a:rPr lang="en-US" altLang="ko-KR"/>
              <a:t>, 10</a:t>
            </a:r>
            <a:r>
              <a:rPr lang="ko-KR" altLang="en-US"/>
              <a:t>장</a:t>
            </a:r>
            <a:r>
              <a:rPr lang="en-US" altLang="ko-KR"/>
              <a:t>. PassStairAtmosphere.cs</a:t>
            </a:r>
            <a:r>
              <a:rPr lang="ko-KR" altLang="en-US"/>
              <a:t>와 </a:t>
            </a:r>
            <a:r>
              <a:rPr lang="en-US" altLang="ko-KR"/>
              <a:t>PassMountainMist.cs</a:t>
            </a:r>
            <a:r>
              <a:rPr lang="ko-KR" altLang="en-US"/>
              <a:t>가 등반 높이와 분위기를 제어하고 </a:t>
            </a:r>
            <a:r>
              <a:rPr lang="en-US" altLang="ko-KR"/>
              <a:t>PassShrineInteraction.cs</a:t>
            </a:r>
            <a:r>
              <a:rPr lang="ko-KR" altLang="en-US"/>
              <a:t>가 기도 및 거점 기능을 담당한다</a:t>
            </a:r>
            <a:r>
              <a:rPr lang="en-US" altLang="ko-KR"/>
              <a:t>. </a:t>
            </a:r>
            <a:r>
              <a:rPr lang="ko-KR" altLang="en-US"/>
              <a:t>기도 기본 시간은 약 </a:t>
            </a:r>
            <a:r>
              <a:rPr lang="en-US" altLang="ko-KR"/>
              <a:t>1.2</a:t>
            </a:r>
            <a:r>
              <a:rPr lang="ko-KR" altLang="en-US"/>
              <a:t>초다</a:t>
            </a:r>
            <a:r>
              <a:rPr lang="en-US" altLang="ko-KR"/>
              <a:t>. </a:t>
            </a:r>
            <a:r>
              <a:rPr lang="ko-KR" altLang="en-US"/>
              <a:t>이미지</a:t>
            </a:r>
            <a:r>
              <a:rPr lang="en-US" altLang="ko-KR"/>
              <a:t>: Assets/Temp/SummitMistReveal~/Start.png.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570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5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현재 키 입력은 </a:t>
            </a:r>
            <a:r>
              <a:rPr lang="en-US" altLang="ko-KR"/>
              <a:t>PassPlayerMovement.cs, PassAnimationController.cs, PassCamera.cs, PassGourdDrinking.cs, PassGameFlow.cs, PassBossEntrance.cs</a:t>
            </a:r>
            <a:r>
              <a:rPr lang="ko-KR" altLang="en-US"/>
              <a:t>와 비교했다</a:t>
            </a:r>
            <a:r>
              <a:rPr lang="en-US" altLang="ko-KR"/>
              <a:t>. E </a:t>
            </a:r>
            <a:r>
              <a:rPr lang="ko-KR" altLang="en-US"/>
              <a:t>회복은 현재 프로젝트에서 추가된 기능이다</a:t>
            </a:r>
            <a:r>
              <a:rPr lang="en-US" altLang="ko-KR"/>
              <a:t>. </a:t>
            </a:r>
            <a:r>
              <a:rPr lang="ko-KR" altLang="en-US"/>
              <a:t>숫자 </a:t>
            </a:r>
            <a:r>
              <a:rPr lang="en-US" altLang="ko-KR"/>
              <a:t>1~3</a:t>
            </a:r>
            <a:r>
              <a:rPr lang="ko-KR" altLang="en-US"/>
              <a:t>은 동작 요청이며 현재 전환 조건을 따른다</a:t>
            </a:r>
            <a:r>
              <a:rPr lang="en-US" altLang="ko-KR"/>
              <a:t>. Space/Esc</a:t>
            </a:r>
            <a:r>
              <a:rPr lang="ko-KR" altLang="en-US"/>
              <a:t>는 보스 등장 연출 중 건너뛰기로도 쓰인다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647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6</a:t>
            </a:r>
            <a:r>
              <a:rPr lang="ko-KR" altLang="en-US"/>
              <a:t>장과 현재 </a:t>
            </a:r>
            <a:r>
              <a:rPr lang="en-US" altLang="ko-KR"/>
              <a:t>PassFanAttackCombat.cs, PassFanAttackVfx.cs, MountainFanAttackVfx </a:t>
            </a:r>
            <a:r>
              <a:rPr lang="ko-KR" altLang="en-US"/>
              <a:t>설정</a:t>
            </a:r>
            <a:r>
              <a:rPr lang="en-US" altLang="ko-KR"/>
              <a:t>. 1</a:t>
            </a:r>
            <a:r>
              <a:rPr lang="ko-KR" altLang="en-US"/>
              <a:t>타와 </a:t>
            </a:r>
            <a:r>
              <a:rPr lang="en-US" altLang="ko-KR"/>
              <a:t>3</a:t>
            </a:r>
            <a:r>
              <a:rPr lang="ko-KR" altLang="en-US"/>
              <a:t>타에 직접</a:t>
            </a:r>
            <a:r>
              <a:rPr lang="en-US" altLang="ko-KR"/>
              <a:t>·</a:t>
            </a:r>
            <a:r>
              <a:rPr lang="ko-KR" altLang="en-US"/>
              <a:t>바람 피해가 있고 </a:t>
            </a:r>
            <a:r>
              <a:rPr lang="en-US" altLang="ko-KR"/>
              <a:t>2</a:t>
            </a:r>
            <a:r>
              <a:rPr lang="ko-KR" altLang="en-US"/>
              <a:t>타는 직접 타격 중심이다</a:t>
            </a:r>
            <a:r>
              <a:rPr lang="en-US" altLang="ko-KR"/>
              <a:t>. </a:t>
            </a:r>
            <a:r>
              <a:rPr lang="ko-KR" altLang="en-US"/>
              <a:t>기준 피해는 각각 </a:t>
            </a:r>
            <a:r>
              <a:rPr lang="en-US" altLang="ko-KR"/>
              <a:t>22, 28, 40. </a:t>
            </a:r>
            <a:r>
              <a:rPr lang="ko-KR" altLang="en-US"/>
              <a:t>아래 그림은 현재 코드를 실행해 새로 촬영한 것이 아닌 보관된 효과 캡처다</a:t>
            </a:r>
            <a:r>
              <a:rPr lang="en-US" altLang="ko-KR"/>
              <a:t>. </a:t>
            </a:r>
            <a:r>
              <a:rPr lang="ko-KR" altLang="en-US"/>
              <a:t>출처</a:t>
            </a:r>
            <a:r>
              <a:rPr lang="en-US" altLang="ko-KR"/>
              <a:t>: Assets/Temp/WindWaveIntegration~/WindWave_Attack1.png, WindWave_Attack2.png, WindWave_Attack3.png.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846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MountainPass_Optimized.unity</a:t>
            </a:r>
            <a:r>
              <a:rPr lang="ko-KR" altLang="en-US"/>
              <a:t>의 </a:t>
            </a:r>
            <a:r>
              <a:rPr lang="en-US" altLang="ko-KR"/>
              <a:t>PassFanAttackDamageSettings </a:t>
            </a:r>
            <a:r>
              <a:rPr lang="ko-KR" altLang="en-US"/>
              <a:t>값과 </a:t>
            </a:r>
            <a:r>
              <a:rPr lang="en-US" altLang="ko-KR"/>
              <a:t>PassFanAttackCombat.cs</a:t>
            </a:r>
            <a:r>
              <a:rPr lang="ko-KR" altLang="en-US"/>
              <a:t>를 기준으로 한다</a:t>
            </a:r>
            <a:r>
              <a:rPr lang="en-US" altLang="ko-KR"/>
              <a:t>. attack1 baseDamage22 directWeight0.7 windWeight0.3, attack2 baseDamage28 directWeight1, attack3 baseDamage40 directWeight0.7 windWeight0.3. </a:t>
            </a:r>
            <a:r>
              <a:rPr lang="ko-KR" altLang="en-US"/>
              <a:t>표의 직접</a:t>
            </a:r>
            <a:r>
              <a:rPr lang="en-US" altLang="ko-KR"/>
              <a:t>·</a:t>
            </a:r>
            <a:r>
              <a:rPr lang="ko-KR" altLang="en-US"/>
              <a:t>바람 피해는 기준 피해량과 비율을 곱해 계산했다</a:t>
            </a:r>
            <a:r>
              <a:rPr lang="en-US" altLang="ko-KR"/>
              <a:t>. </a:t>
            </a:r>
            <a:r>
              <a:rPr lang="ko-KR" altLang="en-US"/>
              <a:t>코드상 같은 공격</a:t>
            </a:r>
            <a:r>
              <a:rPr lang="en-US" altLang="ko-KR"/>
              <a:t>·</a:t>
            </a:r>
            <a:r>
              <a:rPr lang="ko-KR" altLang="en-US"/>
              <a:t>동일 대상에 채널별 </a:t>
            </a:r>
            <a:r>
              <a:rPr lang="en-US" altLang="ko-KR"/>
              <a:t>1</a:t>
            </a:r>
            <a:r>
              <a:rPr lang="ko-KR" altLang="en-US"/>
              <a:t>회 적용하며 실제 충돌 조건 충족 여부에 따라 결과가 달라진다</a:t>
            </a:r>
            <a:r>
              <a:rPr lang="en-US" altLang="ko-KR"/>
              <a:t>. </a:t>
            </a:r>
            <a:r>
              <a:rPr lang="ko-KR" altLang="en-US"/>
              <a:t>개정본 </a:t>
            </a:r>
            <a:r>
              <a:rPr lang="en-US" altLang="ko-KR"/>
              <a:t>6.3</a:t>
            </a:r>
            <a:r>
              <a:rPr lang="ko-KR" altLang="en-US"/>
              <a:t>장의 별도 테스트 구현은 현재 씬으로 통합된 상태로 갱신했다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5143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5.3, 6.2, 8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현재 </a:t>
            </a:r>
            <a:r>
              <a:rPr lang="en-US" altLang="ko-KR"/>
              <a:t>PassAnimationController.cs</a:t>
            </a:r>
            <a:r>
              <a:rPr lang="ko-KR" altLang="en-US"/>
              <a:t>는 </a:t>
            </a:r>
            <a:r>
              <a:rPr lang="en-US" altLang="ko-KR"/>
              <a:t>HEAVY_HIT, GET_UP, DEATH</a:t>
            </a:r>
            <a:r>
              <a:rPr lang="ko-KR" altLang="en-US"/>
              <a:t>를 처리하고 </a:t>
            </a:r>
            <a:r>
              <a:rPr lang="en-US" altLang="ko-KR"/>
              <a:t>PassGameFlow.cs</a:t>
            </a:r>
            <a:r>
              <a:rPr lang="ko-KR" altLang="en-US"/>
              <a:t>는 강피격 및 치명 피해를 실제 상태와 연결한다</a:t>
            </a:r>
            <a:r>
              <a:rPr lang="en-US" altLang="ko-KR"/>
              <a:t>. inputBufferSeconds</a:t>
            </a:r>
            <a:r>
              <a:rPr lang="ko-KR" altLang="en-US"/>
              <a:t>는 현재 씬에서 </a:t>
            </a:r>
            <a:r>
              <a:rPr lang="en-US" altLang="ko-KR"/>
              <a:t>0.15, </a:t>
            </a:r>
            <a:r>
              <a:rPr lang="ko-KR" altLang="en-US"/>
              <a:t>플레이어 </a:t>
            </a:r>
            <a:r>
              <a:rPr lang="en-US" altLang="ko-KR"/>
              <a:t>hitRecovery</a:t>
            </a:r>
            <a:r>
              <a:rPr lang="ko-KR" altLang="en-US"/>
              <a:t>는 </a:t>
            </a:r>
            <a:r>
              <a:rPr lang="en-US" altLang="ko-KR"/>
              <a:t>0.65. </a:t>
            </a:r>
            <a:r>
              <a:rPr lang="ko-KR" altLang="en-US"/>
              <a:t>현재 씬에서 연결된 </a:t>
            </a:r>
            <a:r>
              <a:rPr lang="en-US" altLang="ko-KR"/>
              <a:t>MountainActionTimings </a:t>
            </a:r>
            <a:r>
              <a:rPr lang="ko-KR" altLang="en-US"/>
              <a:t>및 </a:t>
            </a:r>
            <a:r>
              <a:rPr lang="en-US" altLang="ko-KR"/>
              <a:t>MountainPlayerReactions </a:t>
            </a:r>
            <a:r>
              <a:rPr lang="ko-KR" altLang="en-US"/>
              <a:t>설정을 따른다</a:t>
            </a:r>
            <a:r>
              <a:rPr lang="en-US" altLang="ko-KR"/>
              <a:t>. </a:t>
            </a:r>
            <a:r>
              <a:rPr lang="ko-KR" altLang="en-US"/>
              <a:t>특정 구르기 무적 비율은 공격 종류와 판정 구현에 따라 달라질 수 있어 단일 확정 규칙으로 표시하지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02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개정본 </a:t>
            </a:r>
            <a:r>
              <a:rPr lang="en-US" altLang="ko-KR"/>
              <a:t>8</a:t>
            </a:r>
            <a:r>
              <a:rPr lang="ko-KR" altLang="en-US"/>
              <a:t>장 이후의 프로젝트 추가 내용을 반영했다</a:t>
            </a:r>
            <a:r>
              <a:rPr lang="en-US" altLang="ko-KR"/>
              <a:t>. MountainPass_Optimized.unity</a:t>
            </a:r>
            <a:r>
              <a:rPr lang="ko-KR" altLang="en-US"/>
              <a:t>의 </a:t>
            </a:r>
            <a:r>
              <a:rPr lang="en-US" altLang="ko-KR"/>
              <a:t>PassGourdDrinking: maximumUses5, startingUses3, healAmount40. E </a:t>
            </a:r>
            <a:r>
              <a:rPr lang="ko-KR" altLang="en-US"/>
              <a:t>입력으로 사용하며 이동을 유지하는 상반신 레이어를 사용한다</a:t>
            </a:r>
            <a:r>
              <a:rPr lang="en-US" altLang="ko-KR"/>
              <a:t>. PassGameFlow.RestAtShrine</a:t>
            </a:r>
            <a:r>
              <a:rPr lang="ko-KR" altLang="en-US"/>
              <a:t>는 체력 회복과 </a:t>
            </a:r>
            <a:r>
              <a:rPr lang="en-US" altLang="ko-KR"/>
              <a:t>Refill</a:t>
            </a:r>
            <a:r>
              <a:rPr lang="ko-KR" altLang="en-US"/>
              <a:t>을 호출한다</a:t>
            </a:r>
            <a:r>
              <a:rPr lang="en-US" altLang="ko-KR"/>
              <a:t>. </a:t>
            </a:r>
            <a:r>
              <a:rPr lang="ko-KR" altLang="en-US"/>
              <a:t>전투 중에는 산신각 기도를 사용할 수 없고</a:t>
            </a:r>
            <a:r>
              <a:rPr lang="en-US" altLang="ko-KR"/>
              <a:t>, </a:t>
            </a:r>
            <a:r>
              <a:rPr lang="ko-KR" altLang="en-US"/>
              <a:t>호리병은 피격</a:t>
            </a:r>
            <a:r>
              <a:rPr lang="en-US" altLang="ko-KR"/>
              <a:t>·</a:t>
            </a:r>
            <a:r>
              <a:rPr lang="ko-KR" altLang="en-US"/>
              <a:t>공격 등 상태 전환에 의해 취소될 수 있다</a:t>
            </a:r>
            <a:r>
              <a:rPr lang="en-US" altLang="ko-KR"/>
              <a:t>. </a:t>
            </a:r>
            <a:r>
              <a:rPr lang="ko-KR" altLang="en-US"/>
              <a:t>출처 이미지</a:t>
            </a:r>
            <a:r>
              <a:rPr lang="en-US" altLang="ko-KR"/>
              <a:t>: Assets/Temp/MainSceneIntegration~/T_MainDrinking.png.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456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7</a:t>
            </a:r>
            <a:r>
              <a:rPr lang="ko-KR" altLang="en-US"/>
              <a:t>장과 현재 </a:t>
            </a:r>
            <a:r>
              <a:rPr lang="en-US" altLang="ko-KR"/>
              <a:t>PassBossPatternController.cs. </a:t>
            </a:r>
            <a:r>
              <a:rPr lang="ko-KR" altLang="en-US"/>
              <a:t>표시 이름 천하대장군 </a:t>
            </a:r>
            <a:r>
              <a:rPr lang="en-US" altLang="ko-KR"/>
              <a:t>· </a:t>
            </a:r>
            <a:r>
              <a:rPr lang="ko-KR" altLang="en-US"/>
              <a:t>산문의 수문장</a:t>
            </a:r>
            <a:r>
              <a:rPr lang="en-US" altLang="ko-KR"/>
              <a:t>. </a:t>
            </a:r>
            <a:r>
              <a:rPr lang="ko-KR" altLang="en-US"/>
              <a:t>현재 확장 컨트롤러가 본편 및 최적화 씬에 연결되어 있다</a:t>
            </a:r>
            <a:r>
              <a:rPr lang="en-US" altLang="ko-KR"/>
              <a:t>. </a:t>
            </a:r>
            <a:r>
              <a:rPr lang="ko-KR" altLang="en-US"/>
              <a:t>체력은 설정상 본체</a:t>
            </a:r>
            <a:r>
              <a:rPr lang="en-US" altLang="ko-KR"/>
              <a:t>420, </a:t>
            </a:r>
            <a:r>
              <a:rPr lang="ko-KR" altLang="en-US"/>
              <a:t>미니</a:t>
            </a:r>
            <a:r>
              <a:rPr lang="en-US" altLang="ko-KR"/>
              <a:t>60. </a:t>
            </a:r>
            <a:r>
              <a:rPr lang="ko-KR" altLang="en-US"/>
              <a:t>확장 컨트롤러는 </a:t>
            </a:r>
            <a:r>
              <a:rPr lang="en-US" altLang="ko-KR"/>
              <a:t>Enraged</a:t>
            </a:r>
            <a:r>
              <a:rPr lang="ko-KR" altLang="en-US"/>
              <a:t>를 </a:t>
            </a:r>
            <a:r>
              <a:rPr lang="en-US" altLang="ko-KR"/>
              <a:t>false</a:t>
            </a:r>
            <a:r>
              <a:rPr lang="ko-KR" altLang="en-US"/>
              <a:t>로 재정의하므로 개정본의 구형 </a:t>
            </a:r>
            <a:r>
              <a:rPr lang="en-US" altLang="ko-KR"/>
              <a:t>50% </a:t>
            </a:r>
            <a:r>
              <a:rPr lang="ko-KR" altLang="en-US"/>
              <a:t>격노 규칙을 현행 기본 규칙으로 제시하지 않는다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Assets/Temp/PursuitSlamBuild~/Test_NoseSteam.png.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782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PassBossPatternController.cs, PassBossPatternSettings.cs, </a:t>
            </a:r>
            <a:r>
              <a:rPr lang="ko-KR" altLang="en-US"/>
              <a:t>최적화 씬의 </a:t>
            </a:r>
            <a:r>
              <a:rPr lang="en-US" altLang="ko-KR"/>
              <a:t>settings </a:t>
            </a:r>
            <a:r>
              <a:rPr lang="ko-KR" altLang="en-US"/>
              <a:t>값을 근거로 구성했다</a:t>
            </a:r>
            <a:r>
              <a:rPr lang="en-US" altLang="ko-KR"/>
              <a:t>. </a:t>
            </a:r>
            <a:r>
              <a:rPr lang="ko-KR" altLang="en-US"/>
              <a:t>점프 본체 피해</a:t>
            </a:r>
            <a:r>
              <a:rPr lang="en-US" altLang="ko-KR"/>
              <a:t>20, </a:t>
            </a:r>
            <a:r>
              <a:rPr lang="ko-KR" altLang="en-US"/>
              <a:t>엎어지기</a:t>
            </a:r>
            <a:r>
              <a:rPr lang="en-US" altLang="ko-KR"/>
              <a:t>28, crack </a:t>
            </a:r>
            <a:r>
              <a:rPr lang="ko-KR" altLang="en-US"/>
              <a:t>피해</a:t>
            </a:r>
            <a:r>
              <a:rPr lang="en-US" altLang="ko-KR"/>
              <a:t>18 </a:t>
            </a:r>
            <a:r>
              <a:rPr lang="ko-KR" altLang="en-US"/>
              <a:t>및 </a:t>
            </a:r>
            <a:r>
              <a:rPr lang="en-US" altLang="ko-KR"/>
              <a:t>stepCount5. </a:t>
            </a:r>
            <a:r>
              <a:rPr lang="ko-KR" altLang="en-US"/>
              <a:t>추적 찍기는 별도 슬라이드에서 자세히 설명한다</a:t>
            </a:r>
            <a:r>
              <a:rPr lang="en-US" altLang="ko-KR"/>
              <a:t>. </a:t>
            </a:r>
            <a:r>
              <a:rPr lang="ko-KR" altLang="en-US"/>
              <a:t>공격 후 이동</a:t>
            </a:r>
            <a:r>
              <a:rPr lang="en-US" altLang="ko-KR"/>
              <a:t>·</a:t>
            </a:r>
            <a:r>
              <a:rPr lang="ko-KR" altLang="en-US"/>
              <a:t>구르기</a:t>
            </a:r>
            <a:r>
              <a:rPr lang="en-US" altLang="ko-KR"/>
              <a:t>·</a:t>
            </a:r>
            <a:r>
              <a:rPr lang="ko-KR" altLang="en-US"/>
              <a:t>반격의 역할은 기획서 </a:t>
            </a:r>
            <a:r>
              <a:rPr lang="en-US" altLang="ko-KR"/>
              <a:t>2</a:t>
            </a:r>
            <a:r>
              <a:rPr lang="ko-KR" altLang="en-US"/>
              <a:t>장과 </a:t>
            </a:r>
            <a:r>
              <a:rPr lang="en-US" altLang="ko-KR"/>
              <a:t>7</a:t>
            </a:r>
            <a:r>
              <a:rPr lang="ko-KR" altLang="en-US"/>
              <a:t>장의 전투 원칙을 따른다</a:t>
            </a:r>
            <a:r>
              <a:rPr lang="en-US" altLang="ko-KR"/>
              <a:t>. </a:t>
            </a:r>
            <a:r>
              <a:rPr lang="ko-KR" altLang="en-US"/>
              <a:t>표시 피해는 현재 작업값이며 플레이 밸런스 검증 완료를 의미하지 않는다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845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</a:t>
            </a:r>
            <a:r>
              <a:rPr lang="en-US" altLang="ko-KR"/>
              <a:t>PassBossPursuitSlam.cs</a:t>
            </a:r>
            <a:r>
              <a:rPr lang="ko-KR" altLang="en-US"/>
              <a:t>와 </a:t>
            </a:r>
            <a:r>
              <a:rPr lang="en-US" altLang="ko-KR"/>
              <a:t>MountainPass_Optimized.unity pursuitSlam </a:t>
            </a:r>
            <a:r>
              <a:rPr lang="ko-KR" altLang="en-US"/>
              <a:t>설정</a:t>
            </a:r>
            <a:r>
              <a:rPr lang="en-US" altLang="ko-KR"/>
              <a:t>. windup1.5, trackingJumps2, trackingDamage20, heavyDamage28, bodyDamageMultiplier1.5, recovery7. </a:t>
            </a:r>
            <a:r>
              <a:rPr lang="ko-KR" altLang="en-US"/>
              <a:t>각 이륙 직전 플레이어 위치를 기준으로 유효 지면을 찾아 착지점을 확정한다</a:t>
            </a:r>
            <a:r>
              <a:rPr lang="en-US" altLang="ko-KR"/>
              <a:t>. </a:t>
            </a:r>
            <a:r>
              <a:rPr lang="ko-KR" altLang="en-US"/>
              <a:t>최종 직접 충돌과 충격파를 중복 적용하지 않는다</a:t>
            </a:r>
            <a:r>
              <a:rPr lang="en-US" altLang="ko-KR"/>
              <a:t>. </a:t>
            </a:r>
            <a:r>
              <a:rPr lang="ko-KR" altLang="en-US"/>
              <a:t>직접 몸체 피격</a:t>
            </a:r>
            <a:r>
              <a:rPr lang="en-US" altLang="ko-KR"/>
              <a:t>42</a:t>
            </a:r>
            <a:r>
              <a:rPr lang="ko-KR" altLang="en-US"/>
              <a:t>는 </a:t>
            </a:r>
            <a:r>
              <a:rPr lang="en-US" altLang="ko-KR"/>
              <a:t>28×1.5</a:t>
            </a:r>
            <a:r>
              <a:rPr lang="ko-KR" altLang="en-US"/>
              <a:t>로 계산한 값이다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Assets/Temp/PursuitSlamBuild~/Test_BackSlamDust.png.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380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현재 최적화 씬 </a:t>
            </a:r>
            <a:r>
              <a:rPr lang="en-US" altLang="ko-KR"/>
              <a:t>summon </a:t>
            </a:r>
            <a:r>
              <a:rPr lang="ko-KR" altLang="en-US"/>
              <a:t>및 </a:t>
            </a:r>
            <a:r>
              <a:rPr lang="en-US" altLang="ko-KR"/>
              <a:t>linkedAttack </a:t>
            </a:r>
            <a:r>
              <a:rPr lang="ko-KR" altLang="en-US"/>
              <a:t>설정</a:t>
            </a:r>
            <a:r>
              <a:rPr lang="en-US" altLang="ko-KR"/>
              <a:t>, PassBossPatternController.cs </a:t>
            </a:r>
            <a:r>
              <a:rPr lang="ko-KR" altLang="en-US"/>
              <a:t>및 </a:t>
            </a:r>
            <a:r>
              <a:rPr lang="en-US" altLang="ko-KR"/>
              <a:t>PassBossLinkedAttack.cs</a:t>
            </a:r>
            <a:r>
              <a:rPr lang="ko-KR" altLang="en-US"/>
              <a:t>를 근거로 한다</a:t>
            </a:r>
            <a:r>
              <a:rPr lang="en-US" altLang="ko-KR"/>
              <a:t>. summon.requiredNormalAttacks3, spawnCount2, maximumAlive2, combat.minionHealth60. </a:t>
            </a:r>
            <a:r>
              <a:rPr lang="ko-KR" altLang="en-US"/>
              <a:t>연계 간격은 일반 공격</a:t>
            </a:r>
            <a:r>
              <a:rPr lang="en-US" altLang="ko-KR"/>
              <a:t>2~3</a:t>
            </a:r>
            <a:r>
              <a:rPr lang="ko-KR" altLang="en-US"/>
              <a:t>회</a:t>
            </a:r>
            <a:r>
              <a:rPr lang="en-US" altLang="ko-KR"/>
              <a:t>, </a:t>
            </a:r>
            <a:r>
              <a:rPr lang="ko-KR" altLang="en-US"/>
              <a:t>참여</a:t>
            </a:r>
            <a:r>
              <a:rPr lang="en-US" altLang="ko-KR"/>
              <a:t>2</a:t>
            </a:r>
            <a:r>
              <a:rPr lang="ko-KR" altLang="en-US"/>
              <a:t>체</a:t>
            </a:r>
            <a:r>
              <a:rPr lang="en-US" altLang="ko-KR"/>
              <a:t>, </a:t>
            </a:r>
            <a:r>
              <a:rPr lang="ko-KR" altLang="en-US"/>
              <a:t>순간이동 연기와 시간차 타격을 사용한다</a:t>
            </a:r>
            <a:r>
              <a:rPr lang="en-US" altLang="ko-KR"/>
              <a:t>. </a:t>
            </a:r>
            <a:r>
              <a:rPr lang="ko-KR" altLang="en-US"/>
              <a:t>구형 테스트의 이동 점프</a:t>
            </a:r>
            <a:r>
              <a:rPr lang="en-US" altLang="ko-KR"/>
              <a:t>3</a:t>
            </a:r>
            <a:r>
              <a:rPr lang="ko-KR" altLang="en-US"/>
              <a:t>회 누적 조건과 현재 일반 공격</a:t>
            </a:r>
            <a:r>
              <a:rPr lang="en-US" altLang="ko-KR"/>
              <a:t>3</a:t>
            </a:r>
            <a:r>
              <a:rPr lang="ko-KR" altLang="en-US"/>
              <a:t>회 조건을 구분했다</a:t>
            </a:r>
            <a:r>
              <a:rPr lang="en-US" altLang="ko-KR"/>
              <a:t>. </a:t>
            </a:r>
            <a:r>
              <a:rPr lang="ko-KR" altLang="en-US"/>
              <a:t>사진</a:t>
            </a:r>
            <a:r>
              <a:rPr lang="en-US" altLang="ko-KR"/>
              <a:t>: Assets/Temp/BossPatterns~/Test_LinkTeleportArrival.png.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4495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9</a:t>
            </a:r>
            <a:r>
              <a:rPr lang="ko-KR" altLang="en-US"/>
              <a:t>장과 </a:t>
            </a:r>
            <a:r>
              <a:rPr lang="en-US" altLang="ko-KR"/>
              <a:t>PassHud.cs, PassGameFlow.cs</a:t>
            </a:r>
            <a:r>
              <a:rPr lang="ko-KR" altLang="en-US"/>
              <a:t>의 현재 상태</a:t>
            </a:r>
            <a:r>
              <a:rPr lang="en-US" altLang="ko-KR"/>
              <a:t>. uGUI</a:t>
            </a:r>
            <a:r>
              <a:rPr lang="ko-KR" altLang="en-US"/>
              <a:t>와 한국어 </a:t>
            </a:r>
            <a:r>
              <a:rPr lang="en-US" altLang="ko-KR"/>
              <a:t>TextMeshPro </a:t>
            </a:r>
            <a:r>
              <a:rPr lang="ko-KR" altLang="en-US"/>
              <a:t>기반</a:t>
            </a:r>
            <a:r>
              <a:rPr lang="en-US" altLang="ko-KR"/>
              <a:t>. </a:t>
            </a:r>
            <a:r>
              <a:rPr lang="ko-KR" altLang="en-US"/>
              <a:t>호리병 잔여 횟수와 회복량은 현행 </a:t>
            </a:r>
            <a:r>
              <a:rPr lang="en-US" altLang="ko-KR"/>
              <a:t>UI </a:t>
            </a:r>
            <a:r>
              <a:rPr lang="ko-KR" altLang="en-US"/>
              <a:t>추가 사항이다</a:t>
            </a:r>
            <a:r>
              <a:rPr lang="en-US" altLang="ko-KR"/>
              <a:t>. </a:t>
            </a:r>
            <a:r>
              <a:rPr lang="ko-KR" altLang="en-US"/>
              <a:t>구형 보스 격노 문구는 현행 확장 컨트롤러의 격노 비활성화와 구분해야 한다</a:t>
            </a:r>
            <a:r>
              <a:rPr lang="en-US" altLang="ko-KR"/>
              <a:t>. </a:t>
            </a:r>
            <a:r>
              <a:rPr lang="ko-KR" altLang="en-US"/>
              <a:t>인벤토리</a:t>
            </a:r>
            <a:r>
              <a:rPr lang="en-US" altLang="ko-KR"/>
              <a:t>·</a:t>
            </a:r>
            <a:r>
              <a:rPr lang="ko-KR" altLang="en-US"/>
              <a:t>퀘스트 목록</a:t>
            </a:r>
            <a:r>
              <a:rPr lang="en-US" altLang="ko-KR"/>
              <a:t>·</a:t>
            </a:r>
            <a:r>
              <a:rPr lang="ko-KR" altLang="en-US"/>
              <a:t>성장 트리</a:t>
            </a:r>
            <a:r>
              <a:rPr lang="en-US" altLang="ko-KR"/>
              <a:t>·</a:t>
            </a:r>
            <a:r>
              <a:rPr lang="ko-KR" altLang="en-US"/>
              <a:t>미니맵은 이번 시연의 범위에 포함하지 않는다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6789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10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한국 전통 건축과 산악 자연</a:t>
            </a:r>
            <a:r>
              <a:rPr lang="en-US" altLang="ko-KR"/>
              <a:t>, </a:t>
            </a:r>
            <a:r>
              <a:rPr lang="ko-KR" altLang="en-US"/>
              <a:t>스타일라이즈드 캐릭터</a:t>
            </a:r>
            <a:r>
              <a:rPr lang="en-US" altLang="ko-KR"/>
              <a:t>·</a:t>
            </a:r>
            <a:r>
              <a:rPr lang="ko-KR" altLang="en-US"/>
              <a:t>장승을 사용한다</a:t>
            </a:r>
            <a:r>
              <a:rPr lang="en-US" altLang="ko-KR"/>
              <a:t>. </a:t>
            </a:r>
            <a:r>
              <a:rPr lang="ko-KR" altLang="en-US"/>
              <a:t>현재 환경</a:t>
            </a:r>
            <a:r>
              <a:rPr lang="en-US" altLang="ko-KR"/>
              <a:t>·</a:t>
            </a:r>
            <a:r>
              <a:rPr lang="ko-KR" altLang="en-US"/>
              <a:t>전투 효과 코드는 본편으로 통합되어 있으며 미래 음악 방향과는 분리한다</a:t>
            </a:r>
            <a:r>
              <a:rPr lang="en-US" altLang="ko-KR"/>
              <a:t>. PassAudio.cs</a:t>
            </a:r>
            <a:r>
              <a:rPr lang="ko-KR" altLang="en-US"/>
              <a:t>는 부채</a:t>
            </a:r>
            <a:r>
              <a:rPr lang="en-US" altLang="ko-KR"/>
              <a:t>·</a:t>
            </a:r>
            <a:r>
              <a:rPr lang="ko-KR" altLang="en-US"/>
              <a:t>피격</a:t>
            </a:r>
            <a:r>
              <a:rPr lang="en-US" altLang="ko-KR"/>
              <a:t>·</a:t>
            </a:r>
            <a:r>
              <a:rPr lang="ko-KR" altLang="en-US"/>
              <a:t>충격</a:t>
            </a:r>
            <a:r>
              <a:rPr lang="en-US" altLang="ko-KR"/>
              <a:t>·</a:t>
            </a:r>
            <a:r>
              <a:rPr lang="ko-KR" altLang="en-US"/>
              <a:t>종</a:t>
            </a:r>
            <a:r>
              <a:rPr lang="en-US" altLang="ko-KR"/>
              <a:t>·</a:t>
            </a:r>
            <a:r>
              <a:rPr lang="ko-KR" altLang="en-US"/>
              <a:t>산바람을 코드로 합성한다</a:t>
            </a:r>
            <a:r>
              <a:rPr lang="en-US" altLang="ko-KR"/>
              <a:t>. </a:t>
            </a:r>
            <a:r>
              <a:rPr lang="ko-KR" altLang="en-US"/>
              <a:t>전통 악기 기반 </a:t>
            </a:r>
            <a:r>
              <a:rPr lang="en-US" altLang="ko-KR"/>
              <a:t>BGM </a:t>
            </a:r>
            <a:r>
              <a:rPr lang="ko-KR" altLang="en-US"/>
              <a:t>및 최종 믹싱은 후속 작업이다</a:t>
            </a:r>
            <a:r>
              <a:rPr lang="en-US" altLang="ko-KR"/>
              <a:t>. </a:t>
            </a:r>
            <a:r>
              <a:rPr lang="ko-KR" altLang="en-US"/>
              <a:t>이미지</a:t>
            </a:r>
            <a:r>
              <a:rPr lang="en-US" altLang="ko-KR"/>
              <a:t>: Assets/Temp/SummitMistReveal~/Opening.png. </a:t>
            </a:r>
            <a:r>
              <a:rPr lang="ko-KR" altLang="en-US"/>
              <a:t>자산 보유는 실제 씬 사용과 동일하지 않다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2563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2026-10-26 </a:t>
            </a:r>
            <a:r>
              <a:rPr lang="ko-KR" altLang="en-US"/>
              <a:t>개정본과 </a:t>
            </a:r>
            <a:r>
              <a:rPr lang="en-US" altLang="ko-KR"/>
              <a:t>2026-10-27 </a:t>
            </a:r>
            <a:r>
              <a:rPr lang="ko-KR" altLang="en-US"/>
              <a:t>저장 상태 비교다</a:t>
            </a:r>
            <a:r>
              <a:rPr lang="en-US" altLang="ko-KR"/>
              <a:t>. </a:t>
            </a:r>
            <a:r>
              <a:rPr lang="ko-KR" altLang="en-US"/>
              <a:t>현재 빌드 활성 씬은 </a:t>
            </a:r>
            <a:r>
              <a:rPr lang="en-US" altLang="ko-KR"/>
              <a:t>ProjectSettings/EditorBuildSettings.asset</a:t>
            </a:r>
            <a:r>
              <a:rPr lang="ko-KR" altLang="en-US"/>
              <a:t>의 </a:t>
            </a:r>
            <a:r>
              <a:rPr lang="en-US" altLang="ko-KR"/>
              <a:t>MountainPass_Optimized.unity. </a:t>
            </a:r>
            <a:r>
              <a:rPr lang="ko-KR" altLang="en-US"/>
              <a:t>현재 최적화 씬에는 </a:t>
            </a:r>
            <a:r>
              <a:rPr lang="en-US" altLang="ko-KR"/>
              <a:t>PassFanAttackCombat, PassBossPatternController, PassAnimationController.reactionSettings, PassGourdDrinking </a:t>
            </a:r>
            <a:r>
              <a:rPr lang="ko-KR" altLang="en-US"/>
              <a:t>및 </a:t>
            </a:r>
            <a:r>
              <a:rPr lang="en-US" altLang="ko-KR"/>
              <a:t>PassGameFlow.gourd</a:t>
            </a:r>
            <a:r>
              <a:rPr lang="ko-KR" altLang="en-US"/>
              <a:t>가 활성 참조로 연결되어 있다</a:t>
            </a:r>
            <a:r>
              <a:rPr lang="en-US" altLang="ko-KR"/>
              <a:t>. </a:t>
            </a:r>
            <a:r>
              <a:rPr lang="ko-KR" altLang="en-US"/>
              <a:t>따라서 개정본의 별도 테스트 구분 및 </a:t>
            </a:r>
            <a:r>
              <a:rPr lang="en-US" altLang="ko-KR"/>
              <a:t>SampleScene </a:t>
            </a:r>
            <a:r>
              <a:rPr lang="ko-KR" altLang="en-US"/>
              <a:t>빌드 등록 설명은 현행 파일과 차이가 있다</a:t>
            </a:r>
            <a:r>
              <a:rPr lang="en-US" altLang="ko-KR"/>
              <a:t>. </a:t>
            </a:r>
            <a:r>
              <a:rPr lang="ko-KR" altLang="en-US"/>
              <a:t>모든 상태는 저장된 파일 근거이며 이번 작업에서 실행 검증은 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815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12.1</a:t>
            </a:r>
            <a:r>
              <a:rPr lang="ko-KR" altLang="en-US"/>
              <a:t>장의 완료 기준을 현행 통합 상태에 맞춰 정리했다</a:t>
            </a:r>
            <a:r>
              <a:rPr lang="en-US" altLang="ko-KR"/>
              <a:t>. </a:t>
            </a:r>
            <a:r>
              <a:rPr lang="ko-KR" altLang="en-US"/>
              <a:t>본편의 통합 연결 자체를 재작업 항목으로 제시하지 않고 정상적인 사용자 흐름 및 실행본 검증을 완료 조건으로 삼았다</a:t>
            </a:r>
            <a:r>
              <a:rPr lang="en-US" altLang="ko-KR"/>
              <a:t>. </a:t>
            </a:r>
            <a:r>
              <a:rPr lang="ko-KR" altLang="en-US"/>
              <a:t>현재 빌드 등록은 되어 있으나 이번 읽기 전용 확인에서는 빌드와 플레이 실행을 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7785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12.2</a:t>
            </a:r>
            <a:r>
              <a:rPr lang="ko-KR" altLang="en-US"/>
              <a:t>장의 의도를 유지하되 현재 완료된 통합 연결을 고려해 제안한 후속 순서다</a:t>
            </a:r>
            <a:r>
              <a:rPr lang="en-US" altLang="ko-KR"/>
              <a:t>. </a:t>
            </a:r>
            <a:r>
              <a:rPr lang="ko-KR" altLang="en-US"/>
              <a:t>이 순서는 새 일정 약속이나 구현 확정이 아닌 기획상 우선순위 제안이다</a:t>
            </a:r>
            <a:r>
              <a:rPr lang="en-US" altLang="ko-KR"/>
              <a:t>. </a:t>
            </a:r>
            <a:r>
              <a:rPr lang="ko-KR" altLang="en-US"/>
              <a:t>첫째 통합 전투 판정</a:t>
            </a:r>
            <a:r>
              <a:rPr lang="en-US" altLang="ko-KR"/>
              <a:t>·</a:t>
            </a:r>
            <a:r>
              <a:rPr lang="ko-KR" altLang="en-US"/>
              <a:t>패턴 밸런스</a:t>
            </a:r>
            <a:r>
              <a:rPr lang="en-US" altLang="ko-KR"/>
              <a:t>, </a:t>
            </a:r>
            <a:r>
              <a:rPr lang="ko-KR" altLang="en-US"/>
              <a:t>둘째 반복 플레이와 가독성</a:t>
            </a:r>
            <a:r>
              <a:rPr lang="en-US" altLang="ko-KR"/>
              <a:t>, </a:t>
            </a:r>
            <a:r>
              <a:rPr lang="ko-KR" altLang="en-US"/>
              <a:t>셋째 배포 실행 및 실제 성능</a:t>
            </a:r>
            <a:r>
              <a:rPr lang="en-US" altLang="ko-KR"/>
              <a:t>, </a:t>
            </a:r>
            <a:r>
              <a:rPr lang="ko-KR" altLang="en-US"/>
              <a:t>넷째 음악과 추가 도술 검토</a:t>
            </a:r>
            <a:r>
              <a:rPr lang="en-US" altLang="ko-KR"/>
              <a:t>. 21</a:t>
            </a:r>
            <a:r>
              <a:rPr lang="ko-KR" altLang="en-US"/>
              <a:t>일</a:t>
            </a:r>
            <a:r>
              <a:rPr lang="en-US" altLang="ko-KR"/>
              <a:t>·</a:t>
            </a:r>
            <a:r>
              <a:rPr lang="ko-KR" altLang="en-US"/>
              <a:t>하루</a:t>
            </a:r>
            <a:r>
              <a:rPr lang="en-US" altLang="ko-KR"/>
              <a:t>4~5</a:t>
            </a:r>
            <a:r>
              <a:rPr lang="ko-KR" altLang="en-US"/>
              <a:t>시간은 초안의 최초 목표이므로 잔여 일정으로 재사용하지 않았다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97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기획서 </a:t>
            </a:r>
            <a:r>
              <a:rPr lang="en-US" altLang="ko-KR"/>
              <a:t>13</a:t>
            </a:r>
            <a:r>
              <a:rPr lang="ko-KR" altLang="en-US"/>
              <a:t>장과 </a:t>
            </a:r>
            <a:r>
              <a:rPr lang="en-US" altLang="ko-KR"/>
              <a:t>6.4</a:t>
            </a:r>
            <a:r>
              <a:rPr lang="ko-KR" altLang="en-US"/>
              <a:t>장</a:t>
            </a:r>
            <a:r>
              <a:rPr lang="en-US" altLang="ko-KR"/>
              <a:t>. </a:t>
            </a:r>
            <a:r>
              <a:rPr lang="ko-KR" altLang="en-US"/>
              <a:t>독립 도술 슬롯</a:t>
            </a:r>
            <a:r>
              <a:rPr lang="en-US" altLang="ko-KR"/>
              <a:t>·</a:t>
            </a:r>
            <a:r>
              <a:rPr lang="ko-KR" altLang="en-US"/>
              <a:t>마력</a:t>
            </a:r>
            <a:r>
              <a:rPr lang="en-US" altLang="ko-KR"/>
              <a:t>·</a:t>
            </a:r>
            <a:r>
              <a:rPr lang="ko-KR" altLang="en-US"/>
              <a:t>쿨타임 시스템</a:t>
            </a:r>
            <a:r>
              <a:rPr lang="en-US" altLang="ko-KR"/>
              <a:t>, </a:t>
            </a:r>
            <a:r>
              <a:rPr lang="ko-KR" altLang="en-US"/>
              <a:t>성장</a:t>
            </a:r>
            <a:r>
              <a:rPr lang="en-US" altLang="ko-KR"/>
              <a:t>·</a:t>
            </a:r>
            <a:r>
              <a:rPr lang="ko-KR" altLang="en-US"/>
              <a:t>퀘스트</a:t>
            </a:r>
            <a:r>
              <a:rPr lang="en-US" altLang="ko-KR"/>
              <a:t>·</a:t>
            </a:r>
            <a:r>
              <a:rPr lang="ko-KR" altLang="en-US"/>
              <a:t>수집과 다른 지역은 후속 기획이다</a:t>
            </a:r>
            <a:r>
              <a:rPr lang="en-US" altLang="ko-KR"/>
              <a:t>. </a:t>
            </a:r>
            <a:r>
              <a:rPr lang="ko-KR" altLang="en-US"/>
              <a:t>현재 부채 전투와 영적 전환 경험을 먼저 안정화한 다음 확장한다</a:t>
            </a:r>
            <a:r>
              <a:rPr lang="en-US" altLang="ko-KR"/>
              <a:t>. </a:t>
            </a:r>
            <a:r>
              <a:rPr lang="ko-KR" altLang="en-US"/>
              <a:t>출시 플랫폼과 저장</a:t>
            </a:r>
            <a:r>
              <a:rPr lang="en-US" altLang="ko-KR"/>
              <a:t>·</a:t>
            </a:r>
            <a:r>
              <a:rPr lang="ko-KR" altLang="en-US"/>
              <a:t>진행 구조는 미정이다</a:t>
            </a:r>
            <a:r>
              <a:rPr lang="en-US" altLang="ko-KR"/>
              <a:t>. </a:t>
            </a:r>
            <a:r>
              <a:rPr lang="ko-KR" altLang="en-US"/>
              <a:t>아래 내용은 구현 완료 목록이 아니다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1145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기획 자료 전체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.md. </a:t>
            </a:r>
            <a:r>
              <a:rPr lang="ko-KR" altLang="en-US"/>
              <a:t>이미지 테마</a:t>
            </a:r>
            <a:r>
              <a:rPr lang="en-US" altLang="ko-KR"/>
              <a:t>: C:/Users/MBC/Downloads/cheonjiin-overview-background-v2.png. </a:t>
            </a:r>
            <a:r>
              <a:rPr lang="ko-KR" altLang="en-US"/>
              <a:t>저장 현황 확인 대상</a:t>
            </a:r>
            <a:r>
              <a:rPr lang="en-US" altLang="ko-KR"/>
              <a:t>: D:/project/ProjectCheon/Assets/Scenes/MountainPass/MountainPass.unity </a:t>
            </a:r>
            <a:r>
              <a:rPr lang="ko-KR" altLang="en-US"/>
              <a:t>및 </a:t>
            </a:r>
            <a:r>
              <a:rPr lang="en-US" altLang="ko-KR"/>
              <a:t>MountainPass_Optimized.unity; Assets/Scripts/MountainPass; Assets/Settings/MountainPass; Assets/Prefabs/MountainPass; ProjectSettings/EditorBuildSettings.asset; ProjectSettings/ProjectVersion.txt; Packages/manifest.json. </a:t>
            </a:r>
            <a:r>
              <a:rPr lang="ko-KR" altLang="en-US"/>
              <a:t>그림 출처는 각 슬라이드 노트에 기록했다</a:t>
            </a:r>
            <a:r>
              <a:rPr lang="en-US" altLang="ko-KR"/>
              <a:t>. </a:t>
            </a:r>
            <a:r>
              <a:rPr lang="ko-KR" altLang="en-US"/>
              <a:t>읽기 전용 조사로 프로젝트의 씬</a:t>
            </a:r>
            <a:r>
              <a:rPr lang="en-US" altLang="ko-KR"/>
              <a:t>·</a:t>
            </a:r>
            <a:r>
              <a:rPr lang="ko-KR" altLang="en-US"/>
              <a:t>스크립트</a:t>
            </a:r>
            <a:r>
              <a:rPr lang="en-US" altLang="ko-KR"/>
              <a:t>·</a:t>
            </a:r>
            <a:r>
              <a:rPr lang="ko-KR" altLang="en-US"/>
              <a:t>설정 및 원본 문서</a:t>
            </a:r>
            <a:r>
              <a:rPr lang="en-US" altLang="ko-KR"/>
              <a:t>·</a:t>
            </a:r>
            <a:r>
              <a:rPr lang="ko-KR" altLang="en-US"/>
              <a:t>이미지는 변경하지 않았다</a:t>
            </a:r>
            <a:r>
              <a:rPr lang="en-US" altLang="ko-KR"/>
              <a:t>. </a:t>
            </a:r>
            <a:r>
              <a:rPr lang="ko-KR" altLang="en-US"/>
              <a:t>보관 캡처는 새 실행 증거가 아니다</a:t>
            </a:r>
            <a:r>
              <a:rPr lang="en-US" altLang="ko-KR"/>
              <a:t>.
</a:t>
            </a:r>
            <a:r>
              <a:rPr lang="ko-KR" altLang="en-US"/>
              <a:t>출처</a:t>
            </a:r>
            <a:r>
              <a:rPr lang="en-US" altLang="ko-KR"/>
              <a:t>: E:/C.J.I/Document/</a:t>
            </a:r>
            <a:r>
              <a:rPr lang="ko-KR" altLang="en-US"/>
              <a:t>천지인 기획서 개정본</a:t>
            </a:r>
            <a:r>
              <a:rPr lang="en-US" altLang="ko-KR"/>
              <a:t>.md (v0.2, 2026-10-26). </a:t>
            </a:r>
            <a:r>
              <a:rPr lang="ko-KR" altLang="en-US"/>
              <a:t>프로젝트 확인 기준</a:t>
            </a:r>
            <a:r>
              <a:rPr lang="en-US" altLang="ko-KR"/>
              <a:t>: 2026-10-27, </a:t>
            </a:r>
            <a:r>
              <a:rPr lang="ko-KR" altLang="en-US"/>
              <a:t>저장된 파일과 직렬화 참조</a:t>
            </a:r>
            <a:r>
              <a:rPr lang="en-US" altLang="ko-KR"/>
              <a:t>. </a:t>
            </a:r>
            <a:r>
              <a:rPr lang="ko-KR" altLang="en-US"/>
              <a:t>새 플레이 실행 및 배포 빌드는 검증하지 않았다</a:t>
            </a:r>
            <a:r>
              <a:rPr lang="en-US" altLang="ko-KR"/>
              <a:t>. </a:t>
            </a:r>
            <a:r>
              <a:rPr lang="ko-KR" altLang="en-US"/>
              <a:t>화면 이미지는 프로젝트에 보관된 기존 캡처다</a:t>
            </a:r>
            <a:r>
              <a:rPr lang="en-US" altLang="ko-KR"/>
              <a:t>. </a:t>
            </a:r>
            <a:r>
              <a:rPr lang="ko-KR" altLang="en-US"/>
              <a:t>테마</a:t>
            </a:r>
            <a:r>
              <a:rPr lang="en-US" altLang="ko-KR"/>
              <a:t>: </a:t>
            </a:r>
            <a:r>
              <a:rPr lang="ko-KR" altLang="en-US"/>
              <a:t>사용자가 제공한 </a:t>
            </a:r>
            <a:r>
              <a:rPr lang="en-US" altLang="ko-KR"/>
              <a:t>cheonjiin-overview-background-v2.png.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E9B13-CC69-44B0-ACEB-E24B1E880AA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5193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DC0D8-3611-D112-0937-07AB78B83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344E52-AE3E-C37B-B5B7-B68F82863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6041A-EA9A-D0A5-0286-3DCA97BE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CEE1C-E076-B840-DDEE-11A83D97C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57D8A-4E70-E12F-D717-DA70BB06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46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86-2C29-A7CD-4CD2-036265400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706224-67E0-F403-0722-E28348B9F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F8F45-D98C-7CF0-2AEC-20594065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9A914-AF48-8242-856F-84F1F15E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C3B437-08A8-8114-E7F0-68E7CFDC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265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A636A-BB41-4440-B7EF-6E906559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72B184-BFB4-4889-828B-6294EB9C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BA7BB-6F47-59C0-B03A-E90FEC51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4CCB0F-1579-CD49-1C1B-C02B4F5F9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406248-B06F-E179-F7EA-C9275A244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6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35686-2965-DA6C-344C-7496CEDC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FF6D79-1577-427A-846A-A97A56485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B855DF-2637-B082-AD26-0751027D8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F181AC-5E6C-3D39-9354-0123E177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8E9A8C-0253-A999-6539-3C97BB752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552C5E-8632-8787-E8BB-99D2722B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910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3C5D3F-3CC7-CD66-38E3-B58172C2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563D91-C052-DF26-0F07-F2BADF6D4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2231AA-82D5-430D-7A2B-5ED6F4A17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140476-17CB-E7B0-42A5-6583CFC2C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F01986-B0DF-047C-9752-E0464B11BD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B50501-82C0-B54D-F7ED-409B046F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C0DA7F-4E0C-6775-9601-531267457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9AFB4D-4E68-F424-A053-BA3A9A09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58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029A3-EEAE-5821-C728-79FBDD162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B1CA31-8538-4E76-3230-E2790DD5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790E83-57D4-396C-5258-BB1530DE4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BCF0B-8FC6-6F49-57F5-24F97650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942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7FACBB-BB55-BC9C-5099-E500A63E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D912F30-A475-96B0-83F8-7718680E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9DE64-D05B-B4D5-03FA-6B188BAC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1621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7AB47-1DCC-CB15-3D43-444078B85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B2E4B-B063-2E60-D78A-C9751E812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61006-7748-F77B-D9E7-D584A0048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0D87DB-7913-7AC9-5463-4AC4CB3F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0FE8C3D-D496-0DE0-E00D-9D4DB7EB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C85AA0-BD7A-B0A0-A894-BA1133B5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6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06FE7-8926-4900-3185-3E60827E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B8DD2E-5158-7370-69D4-D34C160C93A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55A715-0285-0CB7-6212-187AF928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B17CB8-61CE-3801-429F-6D4E554BA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C56938-7522-1A28-3E27-F007F384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6A3078-3223-7F93-6BDC-E942EC61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32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A81A0-787D-EF7B-163A-A97FF4E1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0F887D-5D8B-DDEA-E942-DC1AFB2BC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55AAA1-3BB1-7577-7BA2-670FCBA3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56F57C-80BB-DD2F-D0F8-B944B9BA9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16E6BE-B961-E3E1-07A1-063F92C2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43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4FA347-DE57-1350-F7EB-99619F7309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7899E0-55DA-9BDF-2A8D-3651EF869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BCC1A-758A-46F5-E308-46B53F5F6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94E07-3553-B6D9-EBC8-3691521E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AF81C7-D306-C86A-8599-0ABD8E26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57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1A4C81-2EA7-25C0-7A0F-C21A90A6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3C877C-7018-D0D6-4BC9-09B0E8FD0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3125DD-64CD-1D4B-5AF6-89EB09FA6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68116-1B0F-43E4-960D-0A66A711854B}" type="datetimeFigureOut">
              <a:rPr lang="ko-KR" altLang="en-US" smtClean="0"/>
              <a:t>2026-10-27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46851-8401-747F-2604-1CDAD1FDD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D47C7E-7FE2-9571-D57C-35E15E8C1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4CA49-025C-4295-ADE0-61D6717494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072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_1">
            <a:extLst>
              <a:ext uri="{FF2B5EF4-FFF2-40B4-BE49-F238E27FC236}">
                <a16:creationId xmlns:a16="http://schemas.microsoft.com/office/drawing/2014/main" id="{D63D87FD-50B3-067E-FE3C-B9648B4F0B93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_1_2">
            <a:extLst>
              <a:ext uri="{FF2B5EF4-FFF2-40B4-BE49-F238E27FC236}">
                <a16:creationId xmlns:a16="http://schemas.microsoft.com/office/drawing/2014/main" id="{158159D0-4F5F-8AA0-F706-4E95BE18CB2F}"/>
              </a:ext>
            </a:extLst>
          </p:cNvPr>
          <p:cNvSpPr txBox="1"/>
          <p:nvPr/>
        </p:nvSpPr>
        <p:spPr>
          <a:xfrm>
            <a:off x="1905000" y="1765299"/>
            <a:ext cx="8382000" cy="1308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64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천지인</a:t>
            </a:r>
          </a:p>
        </p:txBody>
      </p:sp>
      <p:sp>
        <p:nvSpPr>
          <p:cNvPr id="4" name="Text_1_3">
            <a:extLst>
              <a:ext uri="{FF2B5EF4-FFF2-40B4-BE49-F238E27FC236}">
                <a16:creationId xmlns:a16="http://schemas.microsoft.com/office/drawing/2014/main" id="{E53332A5-5570-1DB5-00CD-3BBD5E3B5AEF}"/>
              </a:ext>
            </a:extLst>
          </p:cNvPr>
          <p:cNvSpPr txBox="1"/>
          <p:nvPr/>
        </p:nvSpPr>
        <p:spPr>
          <a:xfrm>
            <a:off x="3175000" y="3060699"/>
            <a:ext cx="5842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2400">
                <a:solidFill>
                  <a:srgbClr val="A58348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天 地 人</a:t>
            </a:r>
          </a:p>
        </p:txBody>
      </p:sp>
      <p:sp>
        <p:nvSpPr>
          <p:cNvPr id="5" name="Text_1_4">
            <a:extLst>
              <a:ext uri="{FF2B5EF4-FFF2-40B4-BE49-F238E27FC236}">
                <a16:creationId xmlns:a16="http://schemas.microsoft.com/office/drawing/2014/main" id="{626C6EA3-F9E1-0D30-99EB-4FC6F44738F5}"/>
              </a:ext>
            </a:extLst>
          </p:cNvPr>
          <p:cNvSpPr txBox="1"/>
          <p:nvPr/>
        </p:nvSpPr>
        <p:spPr>
          <a:xfrm>
            <a:off x="2032000" y="3898899"/>
            <a:ext cx="81280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29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산문을 지키는 자</a:t>
            </a:r>
          </a:p>
        </p:txBody>
      </p:sp>
      <p:sp>
        <p:nvSpPr>
          <p:cNvPr id="6" name="Text_1_5">
            <a:extLst>
              <a:ext uri="{FF2B5EF4-FFF2-40B4-BE49-F238E27FC236}">
                <a16:creationId xmlns:a16="http://schemas.microsoft.com/office/drawing/2014/main" id="{C5E4B029-E4E6-5EB2-6CE3-EB94760E9DB7}"/>
              </a:ext>
            </a:extLst>
          </p:cNvPr>
          <p:cNvSpPr txBox="1"/>
          <p:nvPr/>
        </p:nvSpPr>
        <p:spPr>
          <a:xfrm>
            <a:off x="2286000" y="4635499"/>
            <a:ext cx="762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 설화 판타지 액션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RPG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_1_6">
            <a:extLst>
              <a:ext uri="{FF2B5EF4-FFF2-40B4-BE49-F238E27FC236}">
                <a16:creationId xmlns:a16="http://schemas.microsoft.com/office/drawing/2014/main" id="{72B2B756-70D2-98C8-25CE-3880C1A29CB9}"/>
              </a:ext>
            </a:extLst>
          </p:cNvPr>
          <p:cNvSpPr txBox="1"/>
          <p:nvPr/>
        </p:nvSpPr>
        <p:spPr>
          <a:xfrm>
            <a:off x="3175000" y="5486399"/>
            <a:ext cx="584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14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팀 부채   김민성</a:t>
            </a:r>
          </a:p>
        </p:txBody>
      </p:sp>
      <p:sp>
        <p:nvSpPr>
          <p:cNvPr id="8" name="Text_1_7">
            <a:extLst>
              <a:ext uri="{FF2B5EF4-FFF2-40B4-BE49-F238E27FC236}">
                <a16:creationId xmlns:a16="http://schemas.microsoft.com/office/drawing/2014/main" id="{0EA48284-0FE1-5AF7-0B5B-A318147DC3E7}"/>
              </a:ext>
            </a:extLst>
          </p:cNvPr>
          <p:cNvSpPr txBox="1"/>
          <p:nvPr/>
        </p:nvSpPr>
        <p:spPr>
          <a:xfrm>
            <a:off x="2921000" y="5918199"/>
            <a:ext cx="6350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기획서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v0.2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2026.10.27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현황 반영</a:t>
            </a:r>
          </a:p>
        </p:txBody>
      </p:sp>
    </p:spTree>
    <p:extLst>
      <p:ext uri="{BB962C8B-B14F-4D97-AF65-F5344CB8AC3E}">
        <p14:creationId xmlns:p14="http://schemas.microsoft.com/office/powerpoint/2010/main" val="2801677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_1">
            <a:extLst>
              <a:ext uri="{FF2B5EF4-FFF2-40B4-BE49-F238E27FC236}">
                <a16:creationId xmlns:a16="http://schemas.microsoft.com/office/drawing/2014/main" id="{E7B33486-0493-F832-5FDF-37AED0EEB6AA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프로젝트 개요</a:t>
            </a:r>
          </a:p>
        </p:txBody>
      </p:sp>
      <p:sp>
        <p:nvSpPr>
          <p:cNvPr id="3" name="Text_2_2">
            <a:extLst>
              <a:ext uri="{FF2B5EF4-FFF2-40B4-BE49-F238E27FC236}">
                <a16:creationId xmlns:a16="http://schemas.microsoft.com/office/drawing/2014/main" id="{277A58C6-3B05-7387-E9E8-7401AD052ECC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_3">
            <a:extLst>
              <a:ext uri="{FF2B5EF4-FFF2-40B4-BE49-F238E27FC236}">
                <a16:creationId xmlns:a16="http://schemas.microsoft.com/office/drawing/2014/main" id="{30A52B36-29D8-40B9-0C8C-14705960AB99}"/>
              </a:ext>
            </a:extLst>
          </p:cNvPr>
          <p:cNvSpPr txBox="1"/>
          <p:nvPr/>
        </p:nvSpPr>
        <p:spPr>
          <a:xfrm>
            <a:off x="863600" y="1765299"/>
            <a:ext cx="104648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9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부채를 든 견습 도사가
영적 산문 너머의 장승에게 도전한다</a:t>
            </a:r>
          </a:p>
        </p:txBody>
      </p:sp>
      <p:graphicFrame>
        <p:nvGraphicFramePr>
          <p:cNvPr id="5" name="Table_2">
            <a:extLst>
              <a:ext uri="{FF2B5EF4-FFF2-40B4-BE49-F238E27FC236}">
                <a16:creationId xmlns:a16="http://schemas.microsoft.com/office/drawing/2014/main" id="{6AE73FFE-3145-1419-D08A-31665CA4A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558891"/>
              </p:ext>
            </p:extLst>
          </p:nvPr>
        </p:nvGraphicFramePr>
        <p:xfrm>
          <a:off x="863600" y="3340100"/>
          <a:ext cx="10464800" cy="224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491312122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829450969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항목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기획 방향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78184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장르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3D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실시간 전술형 액션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RPG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306009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세계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주인공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한국 설화 판타지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부채를 사용하는 견습 도사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045135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시연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탐색과 장승 수문장 보스전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842816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인칭 자유 시점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 PC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키보드와 마우스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18478"/>
                  </a:ext>
                </a:extLst>
              </a:tr>
            </a:tbl>
          </a:graphicData>
        </a:graphic>
      </p:graphicFrame>
      <p:sp>
        <p:nvSpPr>
          <p:cNvPr id="6" name="Text_2_5">
            <a:extLst>
              <a:ext uri="{FF2B5EF4-FFF2-40B4-BE49-F238E27FC236}">
                <a16:creationId xmlns:a16="http://schemas.microsoft.com/office/drawing/2014/main" id="{07FFC6C8-F2AA-70C0-88DC-0BC34668E8A4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Unity 6000.3.14f1 · URP 17.3.0    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출시 플랫폼과 시연 분량은 추후 확정</a:t>
            </a:r>
          </a:p>
        </p:txBody>
      </p:sp>
    </p:spTree>
    <p:extLst>
      <p:ext uri="{BB962C8B-B14F-4D97-AF65-F5344CB8AC3E}">
        <p14:creationId xmlns:p14="http://schemas.microsoft.com/office/powerpoint/2010/main" val="257866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3_1">
            <a:extLst>
              <a:ext uri="{FF2B5EF4-FFF2-40B4-BE49-F238E27FC236}">
                <a16:creationId xmlns:a16="http://schemas.microsoft.com/office/drawing/2014/main" id="{9FF01EB6-9403-8E84-03C2-742362EFF5A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한국적인 사물과 플레이의 연결</a:t>
            </a:r>
          </a:p>
        </p:txBody>
      </p:sp>
      <p:sp>
        <p:nvSpPr>
          <p:cNvPr id="3" name="Text_3_2">
            <a:extLst>
              <a:ext uri="{FF2B5EF4-FFF2-40B4-BE49-F238E27FC236}">
                <a16:creationId xmlns:a16="http://schemas.microsoft.com/office/drawing/2014/main" id="{37C61C5D-8EAC-7DFB-8A33-B23E60E46493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03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3_3">
            <a:extLst>
              <a:ext uri="{FF2B5EF4-FFF2-40B4-BE49-F238E27FC236}">
                <a16:creationId xmlns:a16="http://schemas.microsoft.com/office/drawing/2014/main" id="{D9151511-A2CA-2919-3BD9-A4692769DAB5}"/>
              </a:ext>
            </a:extLst>
          </p:cNvPr>
          <p:cNvSpPr txBox="1"/>
          <p:nvPr/>
        </p:nvSpPr>
        <p:spPr>
          <a:xfrm>
            <a:off x="863600" y="1854199"/>
            <a:ext cx="342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견습 도사와 부채</a:t>
            </a:r>
          </a:p>
        </p:txBody>
      </p:sp>
      <p:sp>
        <p:nvSpPr>
          <p:cNvPr id="5" name="Text_3_4">
            <a:extLst>
              <a:ext uri="{FF2B5EF4-FFF2-40B4-BE49-F238E27FC236}">
                <a16:creationId xmlns:a16="http://schemas.microsoft.com/office/drawing/2014/main" id="{2DA287A0-35C0-BE24-97C4-F29618F460E2}"/>
              </a:ext>
            </a:extLst>
          </p:cNvPr>
          <p:cNvSpPr txBox="1"/>
          <p:nvPr/>
        </p:nvSpPr>
        <p:spPr>
          <a:xfrm>
            <a:off x="4648200" y="1841499"/>
            <a:ext cx="65786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부채 연격과 바람으로 싸우며
공격을 이어갈지 회피할지 판단한다</a:t>
            </a:r>
          </a:p>
        </p:txBody>
      </p:sp>
      <p:sp>
        <p:nvSpPr>
          <p:cNvPr id="6" name="Text_3_5">
            <a:extLst>
              <a:ext uri="{FF2B5EF4-FFF2-40B4-BE49-F238E27FC236}">
                <a16:creationId xmlns:a16="http://schemas.microsoft.com/office/drawing/2014/main" id="{3DB5783D-D2AB-C3EF-D94A-82524EAAD216}"/>
              </a:ext>
            </a:extLst>
          </p:cNvPr>
          <p:cNvSpPr txBox="1"/>
          <p:nvPr/>
        </p:nvSpPr>
        <p:spPr>
          <a:xfrm>
            <a:off x="863600" y="3187699"/>
            <a:ext cx="342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산신각의 가호</a:t>
            </a:r>
          </a:p>
        </p:txBody>
      </p:sp>
      <p:sp>
        <p:nvSpPr>
          <p:cNvPr id="7" name="Text_3_6">
            <a:extLst>
              <a:ext uri="{FF2B5EF4-FFF2-40B4-BE49-F238E27FC236}">
                <a16:creationId xmlns:a16="http://schemas.microsoft.com/office/drawing/2014/main" id="{77749681-E266-D992-D0EC-177A702CAF24}"/>
              </a:ext>
            </a:extLst>
          </p:cNvPr>
          <p:cNvSpPr txBox="1"/>
          <p:nvPr/>
        </p:nvSpPr>
        <p:spPr>
          <a:xfrm>
            <a:off x="4648200" y="3174999"/>
            <a:ext cx="65786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기도로 회복하고 다시 도전하는
수련의 거점</a:t>
            </a:r>
          </a:p>
        </p:txBody>
      </p:sp>
      <p:sp>
        <p:nvSpPr>
          <p:cNvPr id="8" name="Text_3_7">
            <a:extLst>
              <a:ext uri="{FF2B5EF4-FFF2-40B4-BE49-F238E27FC236}">
                <a16:creationId xmlns:a16="http://schemas.microsoft.com/office/drawing/2014/main" id="{B54BFA9E-D34A-C2FB-1C40-69F2509FAF9F}"/>
              </a:ext>
            </a:extLst>
          </p:cNvPr>
          <p:cNvSpPr txBox="1"/>
          <p:nvPr/>
        </p:nvSpPr>
        <p:spPr>
          <a:xfrm>
            <a:off x="863600" y="4521199"/>
            <a:ext cx="342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장승 수문장</a:t>
            </a:r>
          </a:p>
        </p:txBody>
      </p:sp>
      <p:sp>
        <p:nvSpPr>
          <p:cNvPr id="9" name="Text_3_8">
            <a:extLst>
              <a:ext uri="{FF2B5EF4-FFF2-40B4-BE49-F238E27FC236}">
                <a16:creationId xmlns:a16="http://schemas.microsoft.com/office/drawing/2014/main" id="{B16B926B-57E8-D258-650B-324A5EC7C657}"/>
              </a:ext>
            </a:extLst>
          </p:cNvPr>
          <p:cNvSpPr txBox="1"/>
          <p:nvPr/>
        </p:nvSpPr>
        <p:spPr>
          <a:xfrm>
            <a:off x="4648200" y="4508499"/>
            <a:ext cx="65786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산문을 지키는 존재의 전조를 읽고
회피 뒤 반격 기회를 잡는 첫 관문</a:t>
            </a:r>
          </a:p>
        </p:txBody>
      </p:sp>
    </p:spTree>
    <p:extLst>
      <p:ext uri="{BB962C8B-B14F-4D97-AF65-F5344CB8AC3E}">
        <p14:creationId xmlns:p14="http://schemas.microsoft.com/office/powerpoint/2010/main" val="6700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4_1">
            <a:extLst>
              <a:ext uri="{FF2B5EF4-FFF2-40B4-BE49-F238E27FC236}">
                <a16:creationId xmlns:a16="http://schemas.microsoft.com/office/drawing/2014/main" id="{34FD5F24-A333-9DFD-4F11-7747888ADB8C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현실과 영적 세계</a:t>
            </a:r>
          </a:p>
        </p:txBody>
      </p:sp>
      <p:sp>
        <p:nvSpPr>
          <p:cNvPr id="3" name="Text_4_2">
            <a:extLst>
              <a:ext uri="{FF2B5EF4-FFF2-40B4-BE49-F238E27FC236}">
                <a16:creationId xmlns:a16="http://schemas.microsoft.com/office/drawing/2014/main" id="{B4FFD6D5-3DA1-14EC-B791-1F2C76ADB156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04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4_3">
            <a:extLst>
              <a:ext uri="{FF2B5EF4-FFF2-40B4-BE49-F238E27FC236}">
                <a16:creationId xmlns:a16="http://schemas.microsoft.com/office/drawing/2014/main" id="{A105E484-1C80-0B28-7AE9-9029663B86B8}"/>
              </a:ext>
            </a:extLst>
          </p:cNvPr>
          <p:cNvSpPr txBox="1"/>
          <p:nvPr/>
        </p:nvSpPr>
        <p:spPr>
          <a:xfrm>
            <a:off x="863600" y="16001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현실의 수련지</a:t>
            </a:r>
          </a:p>
        </p:txBody>
      </p:sp>
      <p:sp>
        <p:nvSpPr>
          <p:cNvPr id="5" name="Text_4_4">
            <a:extLst>
              <a:ext uri="{FF2B5EF4-FFF2-40B4-BE49-F238E27FC236}">
                <a16:creationId xmlns:a16="http://schemas.microsoft.com/office/drawing/2014/main" id="{6F358A00-73DF-393A-57A4-E6499C606E3D}"/>
              </a:ext>
            </a:extLst>
          </p:cNvPr>
          <p:cNvSpPr txBox="1"/>
          <p:nvPr/>
        </p:nvSpPr>
        <p:spPr>
          <a:xfrm>
            <a:off x="6324600" y="16001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 너머의 영적 분위기</a:t>
            </a:r>
          </a:p>
        </p:txBody>
      </p:sp>
      <p:pic>
        <p:nvPicPr>
          <p:cNvPr id="7" name="Picture_4_5" descr="산신각과 소나무 · 프로젝트 보관 캡처; Assets/Temp/SummitMistReveal~/Summit.png">
            <a:extLst>
              <a:ext uri="{FF2B5EF4-FFF2-40B4-BE49-F238E27FC236}">
                <a16:creationId xmlns:a16="http://schemas.microsoft.com/office/drawing/2014/main" id="{C2B6AEB7-23B5-5122-6044-95CD27C6D6C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406" y="2197100"/>
            <a:ext cx="4802188" cy="3073400"/>
          </a:xfrm>
          <a:prstGeom prst="rect">
            <a:avLst/>
          </a:prstGeom>
        </p:spPr>
      </p:pic>
      <p:sp>
        <p:nvSpPr>
          <p:cNvPr id="8" name="Text_4_6">
            <a:extLst>
              <a:ext uri="{FF2B5EF4-FFF2-40B4-BE49-F238E27FC236}">
                <a16:creationId xmlns:a16="http://schemas.microsoft.com/office/drawing/2014/main" id="{0D37522F-4263-ABF3-3F07-39A2787CFEF9}"/>
              </a:ext>
            </a:extLst>
          </p:cNvPr>
          <p:cNvSpPr txBox="1"/>
          <p:nvPr/>
        </p:nvSpPr>
        <p:spPr>
          <a:xfrm>
            <a:off x="863600" y="53720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산신각과 소나무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pic>
        <p:nvPicPr>
          <p:cNvPr id="10" name="Picture_4_7" descr="보스전 공간 · 과거 테스트 캡처; Assets/Temp/BossPatterns~/Test_BossPatterns_Play.png">
            <a:extLst>
              <a:ext uri="{FF2B5EF4-FFF2-40B4-BE49-F238E27FC236}">
                <a16:creationId xmlns:a16="http://schemas.microsoft.com/office/drawing/2014/main" id="{E005E47B-BF5D-CB61-ABFC-888A068ADCE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326481"/>
            <a:ext cx="5003800" cy="2814638"/>
          </a:xfrm>
          <a:prstGeom prst="rect">
            <a:avLst/>
          </a:prstGeom>
        </p:spPr>
      </p:pic>
      <p:sp>
        <p:nvSpPr>
          <p:cNvPr id="11" name="Text_4_8">
            <a:extLst>
              <a:ext uri="{FF2B5EF4-FFF2-40B4-BE49-F238E27FC236}">
                <a16:creationId xmlns:a16="http://schemas.microsoft.com/office/drawing/2014/main" id="{F5F95EDC-5BF6-8444-2232-BC59869C2FA6}"/>
              </a:ext>
            </a:extLst>
          </p:cNvPr>
          <p:cNvSpPr txBox="1"/>
          <p:nvPr/>
        </p:nvSpPr>
        <p:spPr>
          <a:xfrm>
            <a:off x="6324600" y="5372099"/>
            <a:ext cx="50038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보스전 공간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과거 테스트 캡처</a:t>
            </a:r>
          </a:p>
        </p:txBody>
      </p:sp>
      <p:sp>
        <p:nvSpPr>
          <p:cNvPr id="12" name="Text_4_9">
            <a:extLst>
              <a:ext uri="{FF2B5EF4-FFF2-40B4-BE49-F238E27FC236}">
                <a16:creationId xmlns:a16="http://schemas.microsoft.com/office/drawing/2014/main" id="{9AE233DA-10B8-01E3-4394-4C1084029E7B}"/>
              </a:ext>
            </a:extLst>
          </p:cNvPr>
          <p:cNvSpPr txBox="1"/>
          <p:nvPr/>
        </p:nvSpPr>
        <p:spPr>
          <a:xfrm>
            <a:off x="863600" y="58673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현재는 같은 지형의 환경 전환을 구현했다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영계 전용 지형과 포털 미리보기는 후속 범위다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36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5_1">
            <a:extLst>
              <a:ext uri="{FF2B5EF4-FFF2-40B4-BE49-F238E27FC236}">
                <a16:creationId xmlns:a16="http://schemas.microsoft.com/office/drawing/2014/main" id="{98B78D70-CF40-4786-A55B-4165E6D8C68F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현재 시연의 진행 흐름</a:t>
            </a:r>
          </a:p>
        </p:txBody>
      </p:sp>
      <p:sp>
        <p:nvSpPr>
          <p:cNvPr id="3" name="Text_5_2">
            <a:extLst>
              <a:ext uri="{FF2B5EF4-FFF2-40B4-BE49-F238E27FC236}">
                <a16:creationId xmlns:a16="http://schemas.microsoft.com/office/drawing/2014/main" id="{AD212E85-468F-7510-9652-57AB2C27EFBD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05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5">
            <a:extLst>
              <a:ext uri="{FF2B5EF4-FFF2-40B4-BE49-F238E27FC236}">
                <a16:creationId xmlns:a16="http://schemas.microsoft.com/office/drawing/2014/main" id="{3D2E0A4B-B0DE-AB7D-7EE5-5C605189D0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087164"/>
              </p:ext>
            </p:extLst>
          </p:nvPr>
        </p:nvGraphicFramePr>
        <p:xfrm>
          <a:off x="863600" y="1701800"/>
          <a:ext cx="10464800" cy="3644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9554848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651809393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2274089457"/>
                    </a:ext>
                  </a:extLst>
                </a:gridCol>
              </a:tblGrid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행동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경험과 시스템 반응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133493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01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등불을 따라 오르기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목표와 거리 안내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안개 속 접근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50272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02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 기도하기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체력 회복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충전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 갱신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01757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03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영적 산문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문을 통과하기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환경 전환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등장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퇴로 차단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666472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04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수문장 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회피와 부채 연격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전조를 읽고 후딜레이에 반격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629728"/>
                  </a:ext>
                </a:extLst>
              </a:tr>
              <a:tr h="6074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05 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재도전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승패 확인 후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 재도전 또는 산길 처음부터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743247"/>
                  </a:ext>
                </a:extLst>
              </a:tr>
            </a:tbl>
          </a:graphicData>
        </a:graphic>
      </p:graphicFrame>
      <p:sp>
        <p:nvSpPr>
          <p:cNvPr id="5" name="Text_5_4">
            <a:extLst>
              <a:ext uri="{FF2B5EF4-FFF2-40B4-BE49-F238E27FC236}">
                <a16:creationId xmlns:a16="http://schemas.microsoft.com/office/drawing/2014/main" id="{454FC7DC-5D2E-DEE4-C92D-300F25660E49}"/>
              </a:ext>
            </a:extLst>
          </p:cNvPr>
          <p:cNvSpPr txBox="1"/>
          <p:nvPr/>
        </p:nvSpPr>
        <p:spPr>
          <a:xfrm>
            <a:off x="863600" y="5600699"/>
            <a:ext cx="10464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빠른 시연은 시작 화면의 「수문장에게 도전」으로 바로 보스전에 진입</a:t>
            </a:r>
          </a:p>
        </p:txBody>
      </p:sp>
    </p:spTree>
    <p:extLst>
      <p:ext uri="{BB962C8B-B14F-4D97-AF65-F5344CB8AC3E}">
        <p14:creationId xmlns:p14="http://schemas.microsoft.com/office/powerpoint/2010/main" val="376525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6_1">
            <a:extLst>
              <a:ext uri="{FF2B5EF4-FFF2-40B4-BE49-F238E27FC236}">
                <a16:creationId xmlns:a16="http://schemas.microsoft.com/office/drawing/2014/main" id="{47FAAEEE-3CBF-5C3A-4331-EAA7958AD892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산길 탐색과 산신각</a:t>
            </a:r>
          </a:p>
        </p:txBody>
      </p:sp>
      <p:sp>
        <p:nvSpPr>
          <p:cNvPr id="3" name="Text_6_2">
            <a:extLst>
              <a:ext uri="{FF2B5EF4-FFF2-40B4-BE49-F238E27FC236}">
                <a16:creationId xmlns:a16="http://schemas.microsoft.com/office/drawing/2014/main" id="{3B300FAC-FA57-8A55-A13D-30AE52EC3E69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06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6_3">
            <a:extLst>
              <a:ext uri="{FF2B5EF4-FFF2-40B4-BE49-F238E27FC236}">
                <a16:creationId xmlns:a16="http://schemas.microsoft.com/office/drawing/2014/main" id="{462D843A-50FB-035B-D4D9-CE31B2724011}"/>
              </a:ext>
            </a:extLst>
          </p:cNvPr>
          <p:cNvSpPr txBox="1"/>
          <p:nvPr/>
        </p:nvSpPr>
        <p:spPr>
          <a:xfrm>
            <a:off x="863600" y="1790699"/>
            <a:ext cx="4406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등불이 이끄는 오르막</a:t>
            </a:r>
          </a:p>
        </p:txBody>
      </p:sp>
      <p:sp>
        <p:nvSpPr>
          <p:cNvPr id="5" name="Text_6_4">
            <a:extLst>
              <a:ext uri="{FF2B5EF4-FFF2-40B4-BE49-F238E27FC236}">
                <a16:creationId xmlns:a16="http://schemas.microsoft.com/office/drawing/2014/main" id="{EFE7BF1C-D927-2F8C-81FC-814C7C5D237E}"/>
              </a:ext>
            </a:extLst>
          </p:cNvPr>
          <p:cNvSpPr txBox="1"/>
          <p:nvPr/>
        </p:nvSpPr>
        <p:spPr>
          <a:xfrm>
            <a:off x="863600" y="2285999"/>
            <a:ext cx="4406900" cy="952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계단과 목적지 표시로 길을 안내한다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
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높이에 따라 밝기와 안개를 바꾼다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6_5">
            <a:extLst>
              <a:ext uri="{FF2B5EF4-FFF2-40B4-BE49-F238E27FC236}">
                <a16:creationId xmlns:a16="http://schemas.microsoft.com/office/drawing/2014/main" id="{3C86237B-B633-809E-7302-EAACA20AD6C7}"/>
              </a:ext>
            </a:extLst>
          </p:cNvPr>
          <p:cNvSpPr txBox="1"/>
          <p:nvPr/>
        </p:nvSpPr>
        <p:spPr>
          <a:xfrm>
            <a:off x="863600" y="3594099"/>
            <a:ext cx="4406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수련의 거점</a:t>
            </a:r>
          </a:p>
        </p:txBody>
      </p:sp>
      <p:sp>
        <p:nvSpPr>
          <p:cNvPr id="7" name="Text_6_6">
            <a:extLst>
              <a:ext uri="{FF2B5EF4-FFF2-40B4-BE49-F238E27FC236}">
                <a16:creationId xmlns:a16="http://schemas.microsoft.com/office/drawing/2014/main" id="{244BDB93-A68D-8059-E7D6-65C6942EC564}"/>
              </a:ext>
            </a:extLst>
          </p:cNvPr>
          <p:cNvSpPr txBox="1"/>
          <p:nvPr/>
        </p:nvSpPr>
        <p:spPr>
          <a:xfrm>
            <a:off x="863600" y="4089399"/>
            <a:ext cx="44069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산신각에서 약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기도한다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
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회복과 체크포인트 갱신을 함께 제공한다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_6_7" descr="산길 시작 구간 · 프로젝트 보관 캡처; Assets/Temp/SummitMistReveal~/Start.png">
            <a:extLst>
              <a:ext uri="{FF2B5EF4-FFF2-40B4-BE49-F238E27FC236}">
                <a16:creationId xmlns:a16="http://schemas.microsoft.com/office/drawing/2014/main" id="{76976FD1-1DBF-4878-7D3F-A3F43461C38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300" y="1838198"/>
            <a:ext cx="5626100" cy="3600704"/>
          </a:xfrm>
          <a:prstGeom prst="rect">
            <a:avLst/>
          </a:prstGeom>
        </p:spPr>
      </p:pic>
      <p:sp>
        <p:nvSpPr>
          <p:cNvPr id="10" name="Text_6_8">
            <a:extLst>
              <a:ext uri="{FF2B5EF4-FFF2-40B4-BE49-F238E27FC236}">
                <a16:creationId xmlns:a16="http://schemas.microsoft.com/office/drawing/2014/main" id="{C0D2B94E-0543-6E7A-53D5-D2808D82774C}"/>
              </a:ext>
            </a:extLst>
          </p:cNvPr>
          <p:cNvSpPr txBox="1"/>
          <p:nvPr/>
        </p:nvSpPr>
        <p:spPr>
          <a:xfrm>
            <a:off x="5702300" y="5613399"/>
            <a:ext cx="5626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산길 시작 구간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sp>
        <p:nvSpPr>
          <p:cNvPr id="11" name="Text_6_9">
            <a:extLst>
              <a:ext uri="{FF2B5EF4-FFF2-40B4-BE49-F238E27FC236}">
                <a16:creationId xmlns:a16="http://schemas.microsoft.com/office/drawing/2014/main" id="{03AA9EE0-8908-D29C-C4BE-F7FC67210AA2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낙하 시 마지막 체크포인트로 복귀하며 기본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받는다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90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7_1">
            <a:extLst>
              <a:ext uri="{FF2B5EF4-FFF2-40B4-BE49-F238E27FC236}">
                <a16:creationId xmlns:a16="http://schemas.microsoft.com/office/drawing/2014/main" id="{2D5D5EC7-8B9E-BA0E-249F-A9F275525FE7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조작과 카메라</a:t>
            </a:r>
          </a:p>
        </p:txBody>
      </p:sp>
      <p:sp>
        <p:nvSpPr>
          <p:cNvPr id="3" name="Text_7_2">
            <a:extLst>
              <a:ext uri="{FF2B5EF4-FFF2-40B4-BE49-F238E27FC236}">
                <a16:creationId xmlns:a16="http://schemas.microsoft.com/office/drawing/2014/main" id="{454DEE37-5F1F-FF34-F397-F01194996E1E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07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7">
            <a:extLst>
              <a:ext uri="{FF2B5EF4-FFF2-40B4-BE49-F238E27FC236}">
                <a16:creationId xmlns:a16="http://schemas.microsoft.com/office/drawing/2014/main" id="{1EDA04D3-ACB6-10F4-4CDF-A8F3F3700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895594"/>
              </p:ext>
            </p:extLst>
          </p:nvPr>
        </p:nvGraphicFramePr>
        <p:xfrm>
          <a:off x="863600" y="1714500"/>
          <a:ext cx="5003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>
                  <a:extLst>
                    <a:ext uri="{9D8B030D-6E8A-4147-A177-3AD203B41FA5}">
                      <a16:colId xmlns:a16="http://schemas.microsoft.com/office/drawing/2014/main" val="2963419973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94141666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510246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WASD 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방향키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카메라 기준 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49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Shift +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달리기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0482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마우스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시점 회전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 조절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41912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Tab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주시 전환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32413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Space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구르기 회피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1568160"/>
                  </a:ext>
                </a:extLst>
              </a:tr>
            </a:tbl>
          </a:graphicData>
        </a:graphic>
      </p:graphicFrame>
      <p:graphicFrame>
        <p:nvGraphicFramePr>
          <p:cNvPr id="5" name="Table_7">
            <a:extLst>
              <a:ext uri="{FF2B5EF4-FFF2-40B4-BE49-F238E27FC236}">
                <a16:creationId xmlns:a16="http://schemas.microsoft.com/office/drawing/2014/main" id="{01B6086E-3F17-610F-4920-6E37C81BA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261731"/>
              </p:ext>
            </p:extLst>
          </p:nvPr>
        </p:nvGraphicFramePr>
        <p:xfrm>
          <a:off x="6324600" y="1714500"/>
          <a:ext cx="50038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1690819356"/>
                    </a:ext>
                  </a:extLst>
                </a:gridCol>
                <a:gridCol w="3162300">
                  <a:extLst>
                    <a:ext uri="{9D8B030D-6E8A-4147-A177-3AD203B41FA5}">
                      <a16:colId xmlns:a16="http://schemas.microsoft.com/office/drawing/2014/main" val="3891772283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입력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상호작용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2451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좌클릭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J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발도 및 순차 연격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9636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 / 2 / 3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해당 공격 요청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955602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 / 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 기도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66540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Esc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/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복귀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4925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R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승패 후 거점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17430"/>
                  </a:ext>
                </a:extLst>
              </a:tr>
            </a:tbl>
          </a:graphicData>
        </a:graphic>
      </p:graphicFrame>
      <p:sp>
        <p:nvSpPr>
          <p:cNvPr id="6" name="Text_7_5">
            <a:extLst>
              <a:ext uri="{FF2B5EF4-FFF2-40B4-BE49-F238E27FC236}">
                <a16:creationId xmlns:a16="http://schemas.microsoft.com/office/drawing/2014/main" id="{FF5565DE-5B0B-BD04-D4AD-45533CD01078}"/>
              </a:ext>
            </a:extLst>
          </p:cNvPr>
          <p:cNvSpPr txBox="1"/>
          <p:nvPr/>
        </p:nvSpPr>
        <p:spPr>
          <a:xfrm>
            <a:off x="863600" y="56641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보스전 시작 시 주시 활성화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지형 충돌로 카메라 가림 보정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등장 연출은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Space/Esc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건너뛰기</a:t>
            </a:r>
          </a:p>
        </p:txBody>
      </p:sp>
    </p:spTree>
    <p:extLst>
      <p:ext uri="{BB962C8B-B14F-4D97-AF65-F5344CB8AC3E}">
        <p14:creationId xmlns:p14="http://schemas.microsoft.com/office/powerpoint/2010/main" val="2346475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8_1">
            <a:extLst>
              <a:ext uri="{FF2B5EF4-FFF2-40B4-BE49-F238E27FC236}">
                <a16:creationId xmlns:a16="http://schemas.microsoft.com/office/drawing/2014/main" id="{87132499-2C3D-79FB-29EF-9C084477E0A3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부채 </a:t>
            </a: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3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단 연격</a:t>
            </a:r>
          </a:p>
        </p:txBody>
      </p:sp>
      <p:sp>
        <p:nvSpPr>
          <p:cNvPr id="3" name="Text_8_2">
            <a:extLst>
              <a:ext uri="{FF2B5EF4-FFF2-40B4-BE49-F238E27FC236}">
                <a16:creationId xmlns:a16="http://schemas.microsoft.com/office/drawing/2014/main" id="{D2304849-6F1F-DE56-7392-48A1FCD4DD4D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08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8_3" descr="; Assets/Temp/WindWaveIntegration~/WindWave_Attack1.png">
            <a:extLst>
              <a:ext uri="{FF2B5EF4-FFF2-40B4-BE49-F238E27FC236}">
                <a16:creationId xmlns:a16="http://schemas.microsoft.com/office/drawing/2014/main" id="{6CCA2B63-5647-5A93-2C7F-101E059242E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4" t="17361" r="14844" b="20486"/>
          <a:stretch>
            <a:fillRect/>
          </a:stretch>
        </p:blipFill>
        <p:spPr>
          <a:xfrm>
            <a:off x="1003300" y="1676400"/>
            <a:ext cx="2971800" cy="2514600"/>
          </a:xfrm>
          <a:prstGeom prst="rect">
            <a:avLst/>
          </a:prstGeom>
        </p:spPr>
      </p:pic>
      <p:pic>
        <p:nvPicPr>
          <p:cNvPr id="7" name="Picture_8_4" descr="; Assets/Temp/WindWaveIntegration~/WindWave_Attack2.png">
            <a:extLst>
              <a:ext uri="{FF2B5EF4-FFF2-40B4-BE49-F238E27FC236}">
                <a16:creationId xmlns:a16="http://schemas.microsoft.com/office/drawing/2014/main" id="{53E32A8F-2898-0C50-D708-54F71ACE42C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8" t="37326" r="22656" b="19618"/>
          <a:stretch>
            <a:fillRect/>
          </a:stretch>
        </p:blipFill>
        <p:spPr>
          <a:xfrm>
            <a:off x="4470400" y="1678851"/>
            <a:ext cx="3251200" cy="2509698"/>
          </a:xfrm>
          <a:prstGeom prst="rect">
            <a:avLst/>
          </a:prstGeom>
        </p:spPr>
      </p:pic>
      <p:pic>
        <p:nvPicPr>
          <p:cNvPr id="9" name="Picture_8_5" descr="; Assets/Temp/WindWaveIntegration~/WindWave_Attack3.png">
            <a:extLst>
              <a:ext uri="{FF2B5EF4-FFF2-40B4-BE49-F238E27FC236}">
                <a16:creationId xmlns:a16="http://schemas.microsoft.com/office/drawing/2014/main" id="{8BBD072A-DACF-6C73-DE16-1B820103697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6" t="34722" r="26563" b="17014"/>
          <a:stretch>
            <a:fillRect/>
          </a:stretch>
        </p:blipFill>
        <p:spPr>
          <a:xfrm>
            <a:off x="8097736" y="1676400"/>
            <a:ext cx="3210128" cy="2514600"/>
          </a:xfrm>
          <a:prstGeom prst="rect">
            <a:avLst/>
          </a:prstGeom>
        </p:spPr>
      </p:pic>
      <p:sp>
        <p:nvSpPr>
          <p:cNvPr id="10" name="Text_8_6">
            <a:extLst>
              <a:ext uri="{FF2B5EF4-FFF2-40B4-BE49-F238E27FC236}">
                <a16:creationId xmlns:a16="http://schemas.microsoft.com/office/drawing/2014/main" id="{699334D6-BDD9-1BCD-0661-92BE6B8CB059}"/>
              </a:ext>
            </a:extLst>
          </p:cNvPr>
          <p:cNvSpPr txBox="1"/>
          <p:nvPr/>
        </p:nvSpPr>
        <p:spPr>
          <a:xfrm>
            <a:off x="863600" y="4457699"/>
            <a:ext cx="3251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세로 내려치기</a:t>
            </a:r>
          </a:p>
        </p:txBody>
      </p:sp>
      <p:sp>
        <p:nvSpPr>
          <p:cNvPr id="11" name="Text_8_7">
            <a:extLst>
              <a:ext uri="{FF2B5EF4-FFF2-40B4-BE49-F238E27FC236}">
                <a16:creationId xmlns:a16="http://schemas.microsoft.com/office/drawing/2014/main" id="{33A3BB5C-E5DB-3E4D-D0F0-F36A92E92AC1}"/>
              </a:ext>
            </a:extLst>
          </p:cNvPr>
          <p:cNvSpPr txBox="1"/>
          <p:nvPr/>
        </p:nvSpPr>
        <p:spPr>
          <a:xfrm>
            <a:off x="4470400" y="4457699"/>
            <a:ext cx="3251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가로 휘두르기</a:t>
            </a:r>
          </a:p>
        </p:txBody>
      </p:sp>
      <p:sp>
        <p:nvSpPr>
          <p:cNvPr id="12" name="Text_8_8">
            <a:extLst>
              <a:ext uri="{FF2B5EF4-FFF2-40B4-BE49-F238E27FC236}">
                <a16:creationId xmlns:a16="http://schemas.microsoft.com/office/drawing/2014/main" id="{A9A2AC28-D3F7-001A-BF5B-72D0050811C6}"/>
              </a:ext>
            </a:extLst>
          </p:cNvPr>
          <p:cNvSpPr txBox="1"/>
          <p:nvPr/>
        </p:nvSpPr>
        <p:spPr>
          <a:xfrm>
            <a:off x="8077200" y="4457699"/>
            <a:ext cx="32512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20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타  넓은 마무리</a:t>
            </a:r>
          </a:p>
        </p:txBody>
      </p:sp>
      <p:sp>
        <p:nvSpPr>
          <p:cNvPr id="13" name="Text_8_9">
            <a:extLst>
              <a:ext uri="{FF2B5EF4-FFF2-40B4-BE49-F238E27FC236}">
                <a16:creationId xmlns:a16="http://schemas.microsoft.com/office/drawing/2014/main" id="{022C8036-C741-94F6-17E3-AFE403E1B074}"/>
              </a:ext>
            </a:extLst>
          </p:cNvPr>
          <p:cNvSpPr txBox="1"/>
          <p:nvPr/>
        </p:nvSpPr>
        <p:spPr>
          <a:xfrm>
            <a:off x="863600" y="5016499"/>
            <a:ext cx="32512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타격과 전방 바람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_8_10">
            <a:extLst>
              <a:ext uri="{FF2B5EF4-FFF2-40B4-BE49-F238E27FC236}">
                <a16:creationId xmlns:a16="http://schemas.microsoft.com/office/drawing/2014/main" id="{F82B5001-7FD9-4303-9A4F-268C5CF3A557}"/>
              </a:ext>
            </a:extLst>
          </p:cNvPr>
          <p:cNvSpPr txBox="1"/>
          <p:nvPr/>
        </p:nvSpPr>
        <p:spPr>
          <a:xfrm>
            <a:off x="4470400" y="5016499"/>
            <a:ext cx="32512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직접 타격 중심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_8_11">
            <a:extLst>
              <a:ext uri="{FF2B5EF4-FFF2-40B4-BE49-F238E27FC236}">
                <a16:creationId xmlns:a16="http://schemas.microsoft.com/office/drawing/2014/main" id="{A7FE4693-D637-13D1-396D-AF1DCCCC7B99}"/>
              </a:ext>
            </a:extLst>
          </p:cNvPr>
          <p:cNvSpPr txBox="1"/>
          <p:nvPr/>
        </p:nvSpPr>
        <p:spPr>
          <a:xfrm>
            <a:off x="8077200" y="5016499"/>
            <a:ext cx="32512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넓은 궤적과 전방 바람
기준 피해 </a:t>
            </a:r>
            <a:r>
              <a:rPr lang="en-US" altLang="ko-KR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</a:t>
            </a:r>
            <a:endParaRPr lang="ko-KR" altLang="en-US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_8_12">
            <a:extLst>
              <a:ext uri="{FF2B5EF4-FFF2-40B4-BE49-F238E27FC236}">
                <a16:creationId xmlns:a16="http://schemas.microsoft.com/office/drawing/2014/main" id="{CB12909F-5395-5EF8-F5DE-34C9DCA75318}"/>
              </a:ext>
            </a:extLst>
          </p:cNvPr>
          <p:cNvSpPr txBox="1"/>
          <p:nvPr/>
        </p:nvSpPr>
        <p:spPr>
          <a:xfrm>
            <a:off x="863600" y="60832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효과는 프로젝트 보관 캡처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피해량은 현재 씬의 작업값</a:t>
            </a:r>
          </a:p>
        </p:txBody>
      </p:sp>
    </p:spTree>
    <p:extLst>
      <p:ext uri="{BB962C8B-B14F-4D97-AF65-F5344CB8AC3E}">
        <p14:creationId xmlns:p14="http://schemas.microsoft.com/office/powerpoint/2010/main" val="196972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9_1">
            <a:extLst>
              <a:ext uri="{FF2B5EF4-FFF2-40B4-BE49-F238E27FC236}">
                <a16:creationId xmlns:a16="http://schemas.microsoft.com/office/drawing/2014/main" id="{8D380A68-0375-B518-425D-314637F2CA7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직접 타격과 바람 피해</a:t>
            </a:r>
          </a:p>
        </p:txBody>
      </p:sp>
      <p:sp>
        <p:nvSpPr>
          <p:cNvPr id="3" name="Text_9_2">
            <a:extLst>
              <a:ext uri="{FF2B5EF4-FFF2-40B4-BE49-F238E27FC236}">
                <a16:creationId xmlns:a16="http://schemas.microsoft.com/office/drawing/2014/main" id="{2495FA92-F47B-2787-9F61-D7A28F0793DC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09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9_3">
            <a:extLst>
              <a:ext uri="{FF2B5EF4-FFF2-40B4-BE49-F238E27FC236}">
                <a16:creationId xmlns:a16="http://schemas.microsoft.com/office/drawing/2014/main" id="{EE0CB53B-DF8A-9985-A16A-96E55E60AE04}"/>
              </a:ext>
            </a:extLst>
          </p:cNvPr>
          <p:cNvSpPr txBox="1"/>
          <p:nvPr/>
        </p:nvSpPr>
        <p:spPr>
          <a:xfrm>
            <a:off x="863600" y="1650999"/>
            <a:ext cx="104648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3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연격 안에서 근접 부채와 원격 바람을 별도로 판정</a:t>
            </a:r>
          </a:p>
        </p:txBody>
      </p:sp>
      <p:graphicFrame>
        <p:nvGraphicFramePr>
          <p:cNvPr id="5" name="Table_9">
            <a:extLst>
              <a:ext uri="{FF2B5EF4-FFF2-40B4-BE49-F238E27FC236}">
                <a16:creationId xmlns:a16="http://schemas.microsoft.com/office/drawing/2014/main" id="{468B6CA4-0997-C477-4475-F1BEF1088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650726"/>
              </p:ext>
            </p:extLst>
          </p:nvPr>
        </p:nvGraphicFramePr>
        <p:xfrm>
          <a:off x="863600" y="2552700"/>
          <a:ext cx="104648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103469127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589895499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232246378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5970774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기준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직접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바람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199188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22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15.4  (70%)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6.6  (30%)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654627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 (100%)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없음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739239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lang="ko-KR" altLang="en-US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28  (70%)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20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  (30%)</a:t>
                      </a:r>
                      <a:endParaRPr lang="ko-KR" altLang="en-US" sz="20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787899"/>
                  </a:ext>
                </a:extLst>
              </a:tr>
            </a:tbl>
          </a:graphicData>
        </a:graphic>
      </p:graphicFrame>
      <p:sp>
        <p:nvSpPr>
          <p:cNvPr id="6" name="Text_9_5">
            <a:extLst>
              <a:ext uri="{FF2B5EF4-FFF2-40B4-BE49-F238E27FC236}">
                <a16:creationId xmlns:a16="http://schemas.microsoft.com/office/drawing/2014/main" id="{2719B33B-843B-D085-F6A9-8D1EF2EF2935}"/>
              </a:ext>
            </a:extLst>
          </p:cNvPr>
          <p:cNvSpPr txBox="1"/>
          <p:nvPr/>
        </p:nvSpPr>
        <p:spPr>
          <a:xfrm>
            <a:off x="863600" y="5257799"/>
            <a:ext cx="104648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동일 공격의 같은 대상은 직접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바람 채널별로 한 번씩 명중</a:t>
            </a:r>
          </a:p>
        </p:txBody>
      </p:sp>
      <p:sp>
        <p:nvSpPr>
          <p:cNvPr id="7" name="Text_9_6">
            <a:extLst>
              <a:ext uri="{FF2B5EF4-FFF2-40B4-BE49-F238E27FC236}">
                <a16:creationId xmlns:a16="http://schemas.microsoft.com/office/drawing/2014/main" id="{CCD76B9D-77F3-1907-A9C9-62D920D0E666}"/>
              </a:ext>
            </a:extLst>
          </p:cNvPr>
          <p:cNvSpPr txBox="1"/>
          <p:nvPr/>
        </p:nvSpPr>
        <p:spPr>
          <a:xfrm>
            <a:off x="863600" y="58673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두 채널이 모두 맞을 때 기준 피해량에 도달한다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수치는 최종 밸런스 확정값이 아니다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5600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0_1">
            <a:extLst>
              <a:ext uri="{FF2B5EF4-FFF2-40B4-BE49-F238E27FC236}">
                <a16:creationId xmlns:a16="http://schemas.microsoft.com/office/drawing/2014/main" id="{AE3A3622-C075-B456-BBDE-A48AEC64ED8B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회피와 피격의 전투 흐름</a:t>
            </a:r>
          </a:p>
        </p:txBody>
      </p:sp>
      <p:sp>
        <p:nvSpPr>
          <p:cNvPr id="3" name="Text_10_2">
            <a:extLst>
              <a:ext uri="{FF2B5EF4-FFF2-40B4-BE49-F238E27FC236}">
                <a16:creationId xmlns:a16="http://schemas.microsoft.com/office/drawing/2014/main" id="{D2053511-D500-7C51-E467-5578074ED67E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0_3">
            <a:extLst>
              <a:ext uri="{FF2B5EF4-FFF2-40B4-BE49-F238E27FC236}">
                <a16:creationId xmlns:a16="http://schemas.microsoft.com/office/drawing/2014/main" id="{FAB52E2C-B191-6EA5-B751-3BBFA927DF34}"/>
              </a:ext>
            </a:extLst>
          </p:cNvPr>
          <p:cNvSpPr txBox="1"/>
          <p:nvPr/>
        </p:nvSpPr>
        <p:spPr>
          <a:xfrm>
            <a:off x="863600" y="17652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전조 확인과 구르기</a:t>
            </a:r>
          </a:p>
        </p:txBody>
      </p:sp>
      <p:sp>
        <p:nvSpPr>
          <p:cNvPr id="5" name="Text_10_4">
            <a:extLst>
              <a:ext uri="{FF2B5EF4-FFF2-40B4-BE49-F238E27FC236}">
                <a16:creationId xmlns:a16="http://schemas.microsoft.com/office/drawing/2014/main" id="{EA7B4334-9934-FCFC-AD83-254547CA9275}"/>
              </a:ext>
            </a:extLst>
          </p:cNvPr>
          <p:cNvSpPr txBox="1"/>
          <p:nvPr/>
        </p:nvSpPr>
        <p:spPr>
          <a:xfrm>
            <a:off x="863600" y="2260599"/>
            <a:ext cx="10464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적의 준비 동작과 범위를 보고 피한 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 중인 보스를 공격한다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10_5">
            <a:extLst>
              <a:ext uri="{FF2B5EF4-FFF2-40B4-BE49-F238E27FC236}">
                <a16:creationId xmlns:a16="http://schemas.microsoft.com/office/drawing/2014/main" id="{2F3363FE-B26B-FF1C-4CF0-C350DC8123C1}"/>
              </a:ext>
            </a:extLst>
          </p:cNvPr>
          <p:cNvSpPr txBox="1"/>
          <p:nvPr/>
        </p:nvSpPr>
        <p:spPr>
          <a:xfrm>
            <a:off x="863600" y="31495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 유예와 캔슬</a:t>
            </a:r>
          </a:p>
        </p:txBody>
      </p:sp>
      <p:sp>
        <p:nvSpPr>
          <p:cNvPr id="7" name="Text_10_6">
            <a:extLst>
              <a:ext uri="{FF2B5EF4-FFF2-40B4-BE49-F238E27FC236}">
                <a16:creationId xmlns:a16="http://schemas.microsoft.com/office/drawing/2014/main" id="{91774299-83D6-DCCF-C547-DF253320C585}"/>
              </a:ext>
            </a:extLst>
          </p:cNvPr>
          <p:cNvSpPr txBox="1"/>
          <p:nvPr/>
        </p:nvSpPr>
        <p:spPr>
          <a:xfrm>
            <a:off x="863600" y="3644899"/>
            <a:ext cx="104648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전환 직전의 입력을 약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0.15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받아 두고 동작별 허용 시점에 실행한다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10_7">
            <a:extLst>
              <a:ext uri="{FF2B5EF4-FFF2-40B4-BE49-F238E27FC236}">
                <a16:creationId xmlns:a16="http://schemas.microsoft.com/office/drawing/2014/main" id="{69C0C0C8-8295-FC4E-6BF3-24A23AEA69E2}"/>
              </a:ext>
            </a:extLst>
          </p:cNvPr>
          <p:cNvSpPr txBox="1"/>
          <p:nvPr/>
        </p:nvSpPr>
        <p:spPr>
          <a:xfrm>
            <a:off x="863600" y="45338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피격과 강피격</a:t>
            </a:r>
          </a:p>
        </p:txBody>
      </p:sp>
      <p:sp>
        <p:nvSpPr>
          <p:cNvPr id="9" name="Text_10_8">
            <a:extLst>
              <a:ext uri="{FF2B5EF4-FFF2-40B4-BE49-F238E27FC236}">
                <a16:creationId xmlns:a16="http://schemas.microsoft.com/office/drawing/2014/main" id="{4F7EF201-DCE1-5C26-1127-EB99CC3CD9F9}"/>
              </a:ext>
            </a:extLst>
          </p:cNvPr>
          <p:cNvSpPr txBox="1"/>
          <p:nvPr/>
        </p:nvSpPr>
        <p:spPr>
          <a:xfrm>
            <a:off x="863600" y="50291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강한 공격은 넘어짐과 기상으로 연결한다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치명 피해는 사망 상태로 이어진다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_10_9">
            <a:extLst>
              <a:ext uri="{FF2B5EF4-FFF2-40B4-BE49-F238E27FC236}">
                <a16:creationId xmlns:a16="http://schemas.microsoft.com/office/drawing/2014/main" id="{64D04E8A-A82E-A5ED-C74A-E60F062D6764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피해 후 기본 재피격 유예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0.65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캔슬과 무적 구간은 동작별 설정을 따른다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2394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1_1">
            <a:extLst>
              <a:ext uri="{FF2B5EF4-FFF2-40B4-BE49-F238E27FC236}">
                <a16:creationId xmlns:a16="http://schemas.microsoft.com/office/drawing/2014/main" id="{9870F140-3924-2D32-B8E5-1A75256E0EF0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호리병 회복과 재도전</a:t>
            </a:r>
          </a:p>
        </p:txBody>
      </p:sp>
      <p:sp>
        <p:nvSpPr>
          <p:cNvPr id="3" name="Text_11_2">
            <a:extLst>
              <a:ext uri="{FF2B5EF4-FFF2-40B4-BE49-F238E27FC236}">
                <a16:creationId xmlns:a16="http://schemas.microsoft.com/office/drawing/2014/main" id="{49EA3437-1EF4-AE54-2E9F-3E2EDD35AD0A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1_3">
            <a:extLst>
              <a:ext uri="{FF2B5EF4-FFF2-40B4-BE49-F238E27FC236}">
                <a16:creationId xmlns:a16="http://schemas.microsoft.com/office/drawing/2014/main" id="{217A7B76-BAAC-35C8-2647-364596848B4A}"/>
              </a:ext>
            </a:extLst>
          </p:cNvPr>
          <p:cNvSpPr txBox="1"/>
          <p:nvPr/>
        </p:nvSpPr>
        <p:spPr>
          <a:xfrm>
            <a:off x="863600" y="1739899"/>
            <a:ext cx="1981200" cy="927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47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40</a:t>
            </a:r>
            <a:endParaRPr lang="ko-KR" altLang="en-US" sz="4700">
              <a:solidFill>
                <a:srgbClr val="3F6A5B"/>
              </a:solidFill>
              <a:latin typeface="Noto Serif KR" panose="02020200000000000000" pitchFamily="18" charset="-127"/>
              <a:ea typeface="Noto Serif KR" panose="02020200000000000000" pitchFamily="18" charset="-127"/>
            </a:endParaRPr>
          </a:p>
        </p:txBody>
      </p:sp>
      <p:sp>
        <p:nvSpPr>
          <p:cNvPr id="5" name="Text_11_4">
            <a:extLst>
              <a:ext uri="{FF2B5EF4-FFF2-40B4-BE49-F238E27FC236}">
                <a16:creationId xmlns:a16="http://schemas.microsoft.com/office/drawing/2014/main" id="{D50CEFBD-51BA-891E-D457-541F58F6F056}"/>
              </a:ext>
            </a:extLst>
          </p:cNvPr>
          <p:cNvSpPr txBox="1"/>
          <p:nvPr/>
        </p:nvSpPr>
        <p:spPr>
          <a:xfrm>
            <a:off x="901700" y="2781299"/>
            <a:ext cx="2095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7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70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회복량</a:t>
            </a:r>
          </a:p>
        </p:txBody>
      </p:sp>
      <p:sp>
        <p:nvSpPr>
          <p:cNvPr id="6" name="Text_11_5">
            <a:extLst>
              <a:ext uri="{FF2B5EF4-FFF2-40B4-BE49-F238E27FC236}">
                <a16:creationId xmlns:a16="http://schemas.microsoft.com/office/drawing/2014/main" id="{C3B2DB25-4718-68F7-30B2-BF91C0EC446B}"/>
              </a:ext>
            </a:extLst>
          </p:cNvPr>
          <p:cNvSpPr txBox="1"/>
          <p:nvPr/>
        </p:nvSpPr>
        <p:spPr>
          <a:xfrm>
            <a:off x="863600" y="3517899"/>
            <a:ext cx="4000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</a:t>
            </a: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회복</a:t>
            </a:r>
          </a:p>
        </p:txBody>
      </p:sp>
      <p:sp>
        <p:nvSpPr>
          <p:cNvPr id="7" name="Text_11_6">
            <a:extLst>
              <a:ext uri="{FF2B5EF4-FFF2-40B4-BE49-F238E27FC236}">
                <a16:creationId xmlns:a16="http://schemas.microsoft.com/office/drawing/2014/main" id="{448661CC-342F-3E63-7000-7FEBBB6984E7}"/>
              </a:ext>
            </a:extLst>
          </p:cNvPr>
          <p:cNvSpPr txBox="1"/>
          <p:nvPr/>
        </p:nvSpPr>
        <p:spPr>
          <a:xfrm>
            <a:off x="863600" y="4013199"/>
            <a:ext cx="40005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이동을 유지하며 호리병을 마신다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11_7">
            <a:extLst>
              <a:ext uri="{FF2B5EF4-FFF2-40B4-BE49-F238E27FC236}">
                <a16:creationId xmlns:a16="http://schemas.microsoft.com/office/drawing/2014/main" id="{02DA69EA-F6CF-F4D8-DD33-3405496DA14C}"/>
              </a:ext>
            </a:extLst>
          </p:cNvPr>
          <p:cNvSpPr txBox="1"/>
          <p:nvPr/>
        </p:nvSpPr>
        <p:spPr>
          <a:xfrm>
            <a:off x="863600" y="4787899"/>
            <a:ext cx="40640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
산신각 기도로 충전
피격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 전환 시 취소 가능</a:t>
            </a:r>
          </a:p>
        </p:txBody>
      </p:sp>
      <p:pic>
        <p:nvPicPr>
          <p:cNvPr id="10" name="Picture_11_8" descr="호리병 사용 동작 · 프로젝트 보관 캡처; Assets/Temp/MainSceneIntegration~/T_MainDrinking.png">
            <a:extLst>
              <a:ext uri="{FF2B5EF4-FFF2-40B4-BE49-F238E27FC236}">
                <a16:creationId xmlns:a16="http://schemas.microsoft.com/office/drawing/2014/main" id="{93510912-38E4-A29A-7C22-1E5DA4BDC68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005806"/>
            <a:ext cx="5918200" cy="3328988"/>
          </a:xfrm>
          <a:prstGeom prst="rect">
            <a:avLst/>
          </a:prstGeom>
        </p:spPr>
      </p:pic>
      <p:sp>
        <p:nvSpPr>
          <p:cNvPr id="11" name="Text_11_9">
            <a:extLst>
              <a:ext uri="{FF2B5EF4-FFF2-40B4-BE49-F238E27FC236}">
                <a16:creationId xmlns:a16="http://schemas.microsoft.com/office/drawing/2014/main" id="{BEC8813A-C88A-E3D7-1EFD-1517CCBCBC5C}"/>
              </a:ext>
            </a:extLst>
          </p:cNvPr>
          <p:cNvSpPr txBox="1"/>
          <p:nvPr/>
        </p:nvSpPr>
        <p:spPr>
          <a:xfrm>
            <a:off x="5410200" y="5651499"/>
            <a:ext cx="5918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호리병 사용 동작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1077918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2_1">
            <a:extLst>
              <a:ext uri="{FF2B5EF4-FFF2-40B4-BE49-F238E27FC236}">
                <a16:creationId xmlns:a16="http://schemas.microsoft.com/office/drawing/2014/main" id="{1B7538C9-2F8E-B6F1-0E81-2BAEF0BC2B01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장승 수문장 보스</a:t>
            </a:r>
          </a:p>
        </p:txBody>
      </p:sp>
      <p:sp>
        <p:nvSpPr>
          <p:cNvPr id="3" name="Text_12_2">
            <a:extLst>
              <a:ext uri="{FF2B5EF4-FFF2-40B4-BE49-F238E27FC236}">
                <a16:creationId xmlns:a16="http://schemas.microsoft.com/office/drawing/2014/main" id="{9DBC8083-616C-AF75-C090-AAB85E0E7D7A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2_3">
            <a:extLst>
              <a:ext uri="{FF2B5EF4-FFF2-40B4-BE49-F238E27FC236}">
                <a16:creationId xmlns:a16="http://schemas.microsoft.com/office/drawing/2014/main" id="{55B3D478-1A09-7D75-1B47-AF30F779E0DD}"/>
              </a:ext>
            </a:extLst>
          </p:cNvPr>
          <p:cNvSpPr txBox="1"/>
          <p:nvPr/>
        </p:nvSpPr>
        <p:spPr>
          <a:xfrm>
            <a:off x="863600" y="1816099"/>
            <a:ext cx="4445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0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천하대장군</a:t>
            </a:r>
          </a:p>
        </p:txBody>
      </p:sp>
      <p:sp>
        <p:nvSpPr>
          <p:cNvPr id="5" name="Text_12_4">
            <a:extLst>
              <a:ext uri="{FF2B5EF4-FFF2-40B4-BE49-F238E27FC236}">
                <a16:creationId xmlns:a16="http://schemas.microsoft.com/office/drawing/2014/main" id="{3D91987E-2B97-E420-8DF9-3E62FD093A36}"/>
              </a:ext>
            </a:extLst>
          </p:cNvPr>
          <p:cNvSpPr txBox="1"/>
          <p:nvPr/>
        </p:nvSpPr>
        <p:spPr>
          <a:xfrm>
            <a:off x="863600" y="2527299"/>
            <a:ext cx="4445000" cy="419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00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산문의 수문장</a:t>
            </a:r>
          </a:p>
        </p:txBody>
      </p:sp>
      <p:sp>
        <p:nvSpPr>
          <p:cNvPr id="6" name="Text_12_5">
            <a:extLst>
              <a:ext uri="{FF2B5EF4-FFF2-40B4-BE49-F238E27FC236}">
                <a16:creationId xmlns:a16="http://schemas.microsoft.com/office/drawing/2014/main" id="{7E57B2DD-70FE-04C7-09F5-9DFF2F02CA52}"/>
              </a:ext>
            </a:extLst>
          </p:cNvPr>
          <p:cNvSpPr txBox="1"/>
          <p:nvPr/>
        </p:nvSpPr>
        <p:spPr>
          <a:xfrm>
            <a:off x="863600" y="3289299"/>
            <a:ext cx="4470400" cy="1409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견습 도사의 첫 관문
공격 전조와 회피 시점 학습
후딜레이의 반격 기회</a:t>
            </a:r>
          </a:p>
        </p:txBody>
      </p:sp>
      <p:sp>
        <p:nvSpPr>
          <p:cNvPr id="7" name="Text_12_6">
            <a:extLst>
              <a:ext uri="{FF2B5EF4-FFF2-40B4-BE49-F238E27FC236}">
                <a16:creationId xmlns:a16="http://schemas.microsoft.com/office/drawing/2014/main" id="{A9450B97-A5C3-4469-7D44-B0FCD98E4448}"/>
              </a:ext>
            </a:extLst>
          </p:cNvPr>
          <p:cNvSpPr txBox="1"/>
          <p:nvPr/>
        </p:nvSpPr>
        <p:spPr>
          <a:xfrm>
            <a:off x="863600" y="5156199"/>
            <a:ext cx="43942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5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체력 </a:t>
            </a:r>
            <a:r>
              <a:rPr lang="en-US" altLang="ko-KR" sz="25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420</a:t>
            </a:r>
            <a:endParaRPr lang="ko-KR" altLang="en-US" sz="2500" b="1">
              <a:solidFill>
                <a:srgbClr val="3F6A5B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9" name="Picture_12_7" descr="수문장과 코김 전조 · 프로젝트 보관 캡처; Assets/Temp/PursuitSlamBuild~/Test_NoseSteam.png">
            <a:extLst>
              <a:ext uri="{FF2B5EF4-FFF2-40B4-BE49-F238E27FC236}">
                <a16:creationId xmlns:a16="http://schemas.microsoft.com/office/drawing/2014/main" id="{FBDEB2F5-5B36-CAD3-3538-739117E484B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671638"/>
            <a:ext cx="5499100" cy="4124325"/>
          </a:xfrm>
          <a:prstGeom prst="rect">
            <a:avLst/>
          </a:prstGeom>
        </p:spPr>
      </p:pic>
      <p:sp>
        <p:nvSpPr>
          <p:cNvPr id="10" name="Text_12_8">
            <a:extLst>
              <a:ext uri="{FF2B5EF4-FFF2-40B4-BE49-F238E27FC236}">
                <a16:creationId xmlns:a16="http://schemas.microsoft.com/office/drawing/2014/main" id="{3825EDAE-30A7-8894-3105-D58716F12DB5}"/>
              </a:ext>
            </a:extLst>
          </p:cNvPr>
          <p:cNvSpPr txBox="1"/>
          <p:nvPr/>
        </p:nvSpPr>
        <p:spPr>
          <a:xfrm>
            <a:off x="5829300" y="5905499"/>
            <a:ext cx="5499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수문장과 코김 전조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3739222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3_1">
            <a:extLst>
              <a:ext uri="{FF2B5EF4-FFF2-40B4-BE49-F238E27FC236}">
                <a16:creationId xmlns:a16="http://schemas.microsoft.com/office/drawing/2014/main" id="{7A2C72CB-824C-660E-97C7-1CC946B53F94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수문장의 주요 공격과 대응</a:t>
            </a:r>
          </a:p>
        </p:txBody>
      </p:sp>
      <p:sp>
        <p:nvSpPr>
          <p:cNvPr id="3" name="Text_13_2">
            <a:extLst>
              <a:ext uri="{FF2B5EF4-FFF2-40B4-BE49-F238E27FC236}">
                <a16:creationId xmlns:a16="http://schemas.microsoft.com/office/drawing/2014/main" id="{1B4B7187-EB57-A008-0E26-10CC2BD6F29E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13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3">
            <a:extLst>
              <a:ext uri="{FF2B5EF4-FFF2-40B4-BE49-F238E27FC236}">
                <a16:creationId xmlns:a16="http://schemas.microsoft.com/office/drawing/2014/main" id="{53F13FB6-156A-1DA3-D7F0-954EEDDE3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547973"/>
              </p:ext>
            </p:extLst>
          </p:nvPr>
        </p:nvGraphicFramePr>
        <p:xfrm>
          <a:off x="863600" y="1752600"/>
          <a:ext cx="10464800" cy="344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83313082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379693466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604590001"/>
                    </a:ext>
                  </a:extLst>
                </a:gridCol>
              </a:tblGrid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특징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대응과 반격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802195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이동 점프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 주변으로 뛰어 착지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착지 위치를 보고 이탈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837424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엎어지기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몸체를 넘어뜨려 앞쪽을 타격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측면 회피 후 넘어진 동안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662279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지면 연속 폭발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전방 </a:t>
                      </a:r>
                      <a:r>
                        <a:rPr lang="en-US" altLang="ko-KR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</a:t>
                      </a: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 지점을 순차 타격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직선 경로에서 벗어나기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619651"/>
                  </a:ext>
                </a:extLst>
              </a:tr>
              <a:tr h="68834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추적 점프</a:t>
                      </a:r>
                      <a:r>
                        <a:rPr lang="en-US" altLang="ko-KR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 찍기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추적 점프 후 큰 강하 공격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연속 회피 후 긴 후딜레이 활용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07884"/>
                  </a:ext>
                </a:extLst>
              </a:tr>
            </a:tbl>
          </a:graphicData>
        </a:graphic>
      </p:graphicFrame>
      <p:sp>
        <p:nvSpPr>
          <p:cNvPr id="5" name="Text_13_4">
            <a:extLst>
              <a:ext uri="{FF2B5EF4-FFF2-40B4-BE49-F238E27FC236}">
                <a16:creationId xmlns:a16="http://schemas.microsoft.com/office/drawing/2014/main" id="{580DC005-92BB-1D17-2BCE-131CD7F7B322}"/>
              </a:ext>
            </a:extLst>
          </p:cNvPr>
          <p:cNvSpPr txBox="1"/>
          <p:nvPr/>
        </p:nvSpPr>
        <p:spPr>
          <a:xfrm>
            <a:off x="863600" y="56514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작업값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점프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엎어지기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지면 폭발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0733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4_1">
            <a:extLst>
              <a:ext uri="{FF2B5EF4-FFF2-40B4-BE49-F238E27FC236}">
                <a16:creationId xmlns:a16="http://schemas.microsoft.com/office/drawing/2014/main" id="{1EBF2F5A-9B4B-80CB-0D1F-00924BD362C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추적 점프와 등 찍기</a:t>
            </a:r>
          </a:p>
        </p:txBody>
      </p:sp>
      <p:sp>
        <p:nvSpPr>
          <p:cNvPr id="3" name="Text_14_2">
            <a:extLst>
              <a:ext uri="{FF2B5EF4-FFF2-40B4-BE49-F238E27FC236}">
                <a16:creationId xmlns:a16="http://schemas.microsoft.com/office/drawing/2014/main" id="{F40B6331-10FD-ADB4-0954-244146C844A6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14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14_3" descr="최종 강하 후 회복 구간 · 프로젝트 보관 캡처; Assets/Temp/PursuitSlamBuild~/Test_BackSlamDust.png">
            <a:extLst>
              <a:ext uri="{FF2B5EF4-FFF2-40B4-BE49-F238E27FC236}">
                <a16:creationId xmlns:a16="http://schemas.microsoft.com/office/drawing/2014/main" id="{A90BA385-3CA1-8F19-5455-FF3B68BF092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00" y="1765300"/>
            <a:ext cx="4927600" cy="3695700"/>
          </a:xfrm>
          <a:prstGeom prst="rect">
            <a:avLst/>
          </a:prstGeom>
        </p:spPr>
      </p:pic>
      <p:sp>
        <p:nvSpPr>
          <p:cNvPr id="6" name="Text_14_4">
            <a:extLst>
              <a:ext uri="{FF2B5EF4-FFF2-40B4-BE49-F238E27FC236}">
                <a16:creationId xmlns:a16="http://schemas.microsoft.com/office/drawing/2014/main" id="{11317889-5CE5-CC63-168C-D4283F7E7D74}"/>
              </a:ext>
            </a:extLst>
          </p:cNvPr>
          <p:cNvSpPr txBox="1"/>
          <p:nvPr/>
        </p:nvSpPr>
        <p:spPr>
          <a:xfrm>
            <a:off x="863600" y="5562599"/>
            <a:ext cx="5740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강하 후 회복 구간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  <p:sp>
        <p:nvSpPr>
          <p:cNvPr id="7" name="Text_14_5">
            <a:extLst>
              <a:ext uri="{FF2B5EF4-FFF2-40B4-BE49-F238E27FC236}">
                <a16:creationId xmlns:a16="http://schemas.microsoft.com/office/drawing/2014/main" id="{14FD6395-EC4F-89A1-610A-114617724D6F}"/>
              </a:ext>
            </a:extLst>
          </p:cNvPr>
          <p:cNvSpPr txBox="1"/>
          <p:nvPr/>
        </p:nvSpPr>
        <p:spPr>
          <a:xfrm>
            <a:off x="7061200" y="1765299"/>
            <a:ext cx="4267200" cy="355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코김 전조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1.5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
추적 점프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
높이 뛰어 등으로 찍기
회복 </a:t>
            </a:r>
            <a:r>
              <a:rPr lang="en-US" altLang="ko-KR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r>
            <a:r>
              <a:rPr lang="ko-KR" altLang="en-US" sz="22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동안 반격</a:t>
            </a:r>
          </a:p>
        </p:txBody>
      </p:sp>
      <p:sp>
        <p:nvSpPr>
          <p:cNvPr id="8" name="Text_14_6">
            <a:extLst>
              <a:ext uri="{FF2B5EF4-FFF2-40B4-BE49-F238E27FC236}">
                <a16:creationId xmlns:a16="http://schemas.microsoft.com/office/drawing/2014/main" id="{E5A6E1F7-329F-8453-EBDA-137229FFBA07}"/>
              </a:ext>
            </a:extLst>
          </p:cNvPr>
          <p:cNvSpPr txBox="1"/>
          <p:nvPr/>
        </p:nvSpPr>
        <p:spPr>
          <a:xfrm>
            <a:off x="863600" y="58800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작업값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추적 피해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충격파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28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몸체 직접 충돌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42 (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중복 적용 없음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065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5_1">
            <a:extLst>
              <a:ext uri="{FF2B5EF4-FFF2-40B4-BE49-F238E27FC236}">
                <a16:creationId xmlns:a16="http://schemas.microsoft.com/office/drawing/2014/main" id="{5371FED1-2FDA-B39A-AF9E-69DD9E95B0FD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미니 장승 소환과 시간차 연계</a:t>
            </a:r>
          </a:p>
        </p:txBody>
      </p:sp>
      <p:sp>
        <p:nvSpPr>
          <p:cNvPr id="3" name="Text_15_2">
            <a:extLst>
              <a:ext uri="{FF2B5EF4-FFF2-40B4-BE49-F238E27FC236}">
                <a16:creationId xmlns:a16="http://schemas.microsoft.com/office/drawing/2014/main" id="{5676750E-BB2F-09E0-0B90-56582DF4BA0C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" name="Picture_15_3" descr="본체와 미니 장승의 합동 공격 · 과거 테스트 캡처; Assets/Temp/BossPatterns~/Test_LinkTeleportArrival.png">
            <a:extLst>
              <a:ext uri="{FF2B5EF4-FFF2-40B4-BE49-F238E27FC236}">
                <a16:creationId xmlns:a16="http://schemas.microsoft.com/office/drawing/2014/main" id="{2F40E915-638E-D6F0-CF0C-D76E63686A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00" y="1946672"/>
            <a:ext cx="5880100" cy="3307556"/>
          </a:xfrm>
          <a:prstGeom prst="rect">
            <a:avLst/>
          </a:prstGeom>
        </p:spPr>
      </p:pic>
      <p:sp>
        <p:nvSpPr>
          <p:cNvPr id="6" name="Text_15_4">
            <a:extLst>
              <a:ext uri="{FF2B5EF4-FFF2-40B4-BE49-F238E27FC236}">
                <a16:creationId xmlns:a16="http://schemas.microsoft.com/office/drawing/2014/main" id="{8A6E0569-4429-F366-CBF2-09BBF776D332}"/>
              </a:ext>
            </a:extLst>
          </p:cNvPr>
          <p:cNvSpPr txBox="1"/>
          <p:nvPr/>
        </p:nvSpPr>
        <p:spPr>
          <a:xfrm>
            <a:off x="863600" y="5537199"/>
            <a:ext cx="58801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본체와 미니 장승의 합동 공격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과거 테스트 캡처</a:t>
            </a:r>
          </a:p>
        </p:txBody>
      </p:sp>
      <p:sp>
        <p:nvSpPr>
          <p:cNvPr id="7" name="Text_15_5">
            <a:extLst>
              <a:ext uri="{FF2B5EF4-FFF2-40B4-BE49-F238E27FC236}">
                <a16:creationId xmlns:a16="http://schemas.microsoft.com/office/drawing/2014/main" id="{AA19F357-2321-D96C-A09A-08BD1ED03EFA}"/>
              </a:ext>
            </a:extLst>
          </p:cNvPr>
          <p:cNvSpPr txBox="1"/>
          <p:nvPr/>
        </p:nvSpPr>
        <p:spPr>
          <a:xfrm>
            <a:off x="7175500" y="1777999"/>
            <a:ext cx="4152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일반 공격 누적 후 소환</a:t>
            </a:r>
          </a:p>
        </p:txBody>
      </p:sp>
      <p:sp>
        <p:nvSpPr>
          <p:cNvPr id="8" name="Text_15_6">
            <a:extLst>
              <a:ext uri="{FF2B5EF4-FFF2-40B4-BE49-F238E27FC236}">
                <a16:creationId xmlns:a16="http://schemas.microsoft.com/office/drawing/2014/main" id="{F90046FD-58B4-6A2C-3838-5F8AE4C5AB06}"/>
              </a:ext>
            </a:extLst>
          </p:cNvPr>
          <p:cNvSpPr txBox="1"/>
          <p:nvPr/>
        </p:nvSpPr>
        <p:spPr>
          <a:xfrm>
            <a:off x="7175500" y="2273299"/>
            <a:ext cx="41529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수행 후 미니 장승 소환
한 번에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생존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체</a:t>
            </a:r>
          </a:p>
        </p:txBody>
      </p:sp>
      <p:sp>
        <p:nvSpPr>
          <p:cNvPr id="9" name="Text_15_7">
            <a:extLst>
              <a:ext uri="{FF2B5EF4-FFF2-40B4-BE49-F238E27FC236}">
                <a16:creationId xmlns:a16="http://schemas.microsoft.com/office/drawing/2014/main" id="{DE81673C-C125-6CCF-469B-C2C15FE59322}"/>
              </a:ext>
            </a:extLst>
          </p:cNvPr>
          <p:cNvSpPr txBox="1"/>
          <p:nvPr/>
        </p:nvSpPr>
        <p:spPr>
          <a:xfrm>
            <a:off x="7175500" y="3606799"/>
            <a:ext cx="41529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본체와 미니 장승의 연계</a:t>
            </a:r>
          </a:p>
        </p:txBody>
      </p:sp>
      <p:sp>
        <p:nvSpPr>
          <p:cNvPr id="10" name="Text_15_8">
            <a:extLst>
              <a:ext uri="{FF2B5EF4-FFF2-40B4-BE49-F238E27FC236}">
                <a16:creationId xmlns:a16="http://schemas.microsoft.com/office/drawing/2014/main" id="{D20BBACD-3E94-2697-1B46-CF6EB3B95F8B}"/>
              </a:ext>
            </a:extLst>
          </p:cNvPr>
          <p:cNvSpPr txBox="1"/>
          <p:nvPr/>
        </p:nvSpPr>
        <p:spPr>
          <a:xfrm>
            <a:off x="7175500" y="4102099"/>
            <a:ext cx="4152900" cy="1104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순간이동으로 자리를 잡고
점프와 본체 타격을 시간차로 연결</a:t>
            </a:r>
          </a:p>
        </p:txBody>
      </p:sp>
      <p:sp>
        <p:nvSpPr>
          <p:cNvPr id="11" name="Text_15_9">
            <a:extLst>
              <a:ext uri="{FF2B5EF4-FFF2-40B4-BE49-F238E27FC236}">
                <a16:creationId xmlns:a16="http://schemas.microsoft.com/office/drawing/2014/main" id="{5A2E0094-3864-C3B6-6A38-5DD6FDB40283}"/>
              </a:ext>
            </a:extLst>
          </p:cNvPr>
          <p:cNvSpPr txBox="1"/>
          <p:nvPr/>
        </p:nvSpPr>
        <p:spPr>
          <a:xfrm>
            <a:off x="863600" y="58800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미니 장승 체력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 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본체 처치 시 남은 미니 장승도 정리하고 소멸 효과 처리</a:t>
            </a:r>
          </a:p>
        </p:txBody>
      </p:sp>
    </p:spTree>
    <p:extLst>
      <p:ext uri="{BB962C8B-B14F-4D97-AF65-F5344CB8AC3E}">
        <p14:creationId xmlns:p14="http://schemas.microsoft.com/office/powerpoint/2010/main" val="2610682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6_1">
            <a:extLst>
              <a:ext uri="{FF2B5EF4-FFF2-40B4-BE49-F238E27FC236}">
                <a16:creationId xmlns:a16="http://schemas.microsoft.com/office/drawing/2014/main" id="{4EA32946-D263-02EE-2777-233D9597C4AE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UI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와 시연 편의 기능</a:t>
            </a:r>
          </a:p>
        </p:txBody>
      </p:sp>
      <p:sp>
        <p:nvSpPr>
          <p:cNvPr id="3" name="Text_16_2">
            <a:extLst>
              <a:ext uri="{FF2B5EF4-FFF2-40B4-BE49-F238E27FC236}">
                <a16:creationId xmlns:a16="http://schemas.microsoft.com/office/drawing/2014/main" id="{E20960F7-EBD5-70F6-72F0-E2119E086D5D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6">
            <a:extLst>
              <a:ext uri="{FF2B5EF4-FFF2-40B4-BE49-F238E27FC236}">
                <a16:creationId xmlns:a16="http://schemas.microsoft.com/office/drawing/2014/main" id="{71FB81F0-901D-D9C8-C018-D2047A1A4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022087"/>
              </p:ext>
            </p:extLst>
          </p:nvPr>
        </p:nvGraphicFramePr>
        <p:xfrm>
          <a:off x="863600" y="1739900"/>
          <a:ext cx="1046480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9100">
                  <a:extLst>
                    <a:ext uri="{9D8B030D-6E8A-4147-A177-3AD203B41FA5}">
                      <a16:colId xmlns:a16="http://schemas.microsoft.com/office/drawing/2014/main" val="3920524333"/>
                    </a:ext>
                  </a:extLst>
                </a:gridCol>
                <a:gridCol w="7505700">
                  <a:extLst>
                    <a:ext uri="{9D8B030D-6E8A-4147-A177-3AD203B41FA5}">
                      <a16:colId xmlns:a16="http://schemas.microsoft.com/office/drawing/2014/main" val="3209690129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 상황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화면이 전달할 정보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706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산길 여정과 보스 즉시 도전 선택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52263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탐색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목표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목적지 방향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거리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기도 상호작용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9119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플레이어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체력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잔여 횟수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05535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등장 연출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건너뛰기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계속하기와 재시작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84252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결과와 재도전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 시 경과 시간</a:t>
                      </a:r>
                      <a:r>
                        <a:rPr lang="en-US" altLang="ko-KR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명중 횟수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932821"/>
                  </a:ext>
                </a:extLst>
              </a:tr>
            </a:tbl>
          </a:graphicData>
        </a:graphic>
      </p:graphicFrame>
      <p:sp>
        <p:nvSpPr>
          <p:cNvPr id="5" name="Text_16_4">
            <a:extLst>
              <a:ext uri="{FF2B5EF4-FFF2-40B4-BE49-F238E27FC236}">
                <a16:creationId xmlns:a16="http://schemas.microsoft.com/office/drawing/2014/main" id="{A1366866-8BB5-3883-6C3D-0C3BF1D9F65C}"/>
              </a:ext>
            </a:extLst>
          </p:cNvPr>
          <p:cNvSpPr txBox="1"/>
          <p:nvPr/>
        </p:nvSpPr>
        <p:spPr>
          <a:xfrm>
            <a:off x="863600" y="58292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한지색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옥색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금색을 사용한 화면 구성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장비창과 성장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UI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는 후속 기획</a:t>
            </a:r>
          </a:p>
        </p:txBody>
      </p:sp>
    </p:spTree>
    <p:extLst>
      <p:ext uri="{BB962C8B-B14F-4D97-AF65-F5344CB8AC3E}">
        <p14:creationId xmlns:p14="http://schemas.microsoft.com/office/powerpoint/2010/main" val="2927915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7_1">
            <a:extLst>
              <a:ext uri="{FF2B5EF4-FFF2-40B4-BE49-F238E27FC236}">
                <a16:creationId xmlns:a16="http://schemas.microsoft.com/office/drawing/2014/main" id="{A3FB32FD-CF47-1F84-2875-AC1325817F07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아트와 사운드 방향</a:t>
            </a:r>
          </a:p>
        </p:txBody>
      </p:sp>
      <p:sp>
        <p:nvSpPr>
          <p:cNvPr id="3" name="Text_17_2">
            <a:extLst>
              <a:ext uri="{FF2B5EF4-FFF2-40B4-BE49-F238E27FC236}">
                <a16:creationId xmlns:a16="http://schemas.microsoft.com/office/drawing/2014/main" id="{BFB24FA9-9167-BAEA-181B-C66339A38665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7_3">
            <a:extLst>
              <a:ext uri="{FF2B5EF4-FFF2-40B4-BE49-F238E27FC236}">
                <a16:creationId xmlns:a16="http://schemas.microsoft.com/office/drawing/2014/main" id="{9576618D-3578-9F5B-48E6-D4C70413BB4B}"/>
              </a:ext>
            </a:extLst>
          </p:cNvPr>
          <p:cNvSpPr txBox="1"/>
          <p:nvPr/>
        </p:nvSpPr>
        <p:spPr>
          <a:xfrm>
            <a:off x="863600" y="1739899"/>
            <a:ext cx="457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한국풍 </a:t>
            </a:r>
            <a:r>
              <a:rPr lang="en-US" altLang="ko-KR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3D </a:t>
            </a: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카툰 렌더링</a:t>
            </a:r>
          </a:p>
        </p:txBody>
      </p:sp>
      <p:sp>
        <p:nvSpPr>
          <p:cNvPr id="5" name="Text_17_4">
            <a:extLst>
              <a:ext uri="{FF2B5EF4-FFF2-40B4-BE49-F238E27FC236}">
                <a16:creationId xmlns:a16="http://schemas.microsoft.com/office/drawing/2014/main" id="{4DB4A74F-3FB0-D202-CF42-ECE6DDA79383}"/>
              </a:ext>
            </a:extLst>
          </p:cNvPr>
          <p:cNvSpPr txBox="1"/>
          <p:nvPr/>
        </p:nvSpPr>
        <p:spPr>
          <a:xfrm>
            <a:off x="863600" y="2235199"/>
            <a:ext cx="4572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바위산과 소나무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돌계단과 등불
산신각과 산문이 이어지는 수련지</a:t>
            </a:r>
          </a:p>
        </p:txBody>
      </p:sp>
      <p:sp>
        <p:nvSpPr>
          <p:cNvPr id="6" name="Text_17_5">
            <a:extLst>
              <a:ext uri="{FF2B5EF4-FFF2-40B4-BE49-F238E27FC236}">
                <a16:creationId xmlns:a16="http://schemas.microsoft.com/office/drawing/2014/main" id="{DF9B2967-D1F7-133D-4120-3DC8097E85C1}"/>
              </a:ext>
            </a:extLst>
          </p:cNvPr>
          <p:cNvSpPr txBox="1"/>
          <p:nvPr/>
        </p:nvSpPr>
        <p:spPr>
          <a:xfrm>
            <a:off x="863600" y="3378199"/>
            <a:ext cx="457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환경과 전투 연출</a:t>
            </a:r>
          </a:p>
        </p:txBody>
      </p:sp>
      <p:sp>
        <p:nvSpPr>
          <p:cNvPr id="7" name="Text_17_6">
            <a:extLst>
              <a:ext uri="{FF2B5EF4-FFF2-40B4-BE49-F238E27FC236}">
                <a16:creationId xmlns:a16="http://schemas.microsoft.com/office/drawing/2014/main" id="{1DC1F74A-7C4F-7607-FFC0-95B8748DD805}"/>
              </a:ext>
            </a:extLst>
          </p:cNvPr>
          <p:cNvSpPr txBox="1"/>
          <p:nvPr/>
        </p:nvSpPr>
        <p:spPr>
          <a:xfrm>
            <a:off x="863600" y="3873499"/>
            <a:ext cx="4572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높이에 따라 걷히는 안개
부채 궤적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바람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충격과 소멸</a:t>
            </a:r>
          </a:p>
        </p:txBody>
      </p:sp>
      <p:sp>
        <p:nvSpPr>
          <p:cNvPr id="8" name="Text_17_7">
            <a:extLst>
              <a:ext uri="{FF2B5EF4-FFF2-40B4-BE49-F238E27FC236}">
                <a16:creationId xmlns:a16="http://schemas.microsoft.com/office/drawing/2014/main" id="{3E256111-E049-C7AE-3ABC-3E84937BFCFC}"/>
              </a:ext>
            </a:extLst>
          </p:cNvPr>
          <p:cNvSpPr txBox="1"/>
          <p:nvPr/>
        </p:nvSpPr>
        <p:spPr>
          <a:xfrm>
            <a:off x="863600" y="5118099"/>
            <a:ext cx="45720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 합성 효과음과 산바람
후속  전통 악기 기반 </a:t>
            </a:r>
            <a:r>
              <a:rPr lang="en-US" altLang="ko-KR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BGM·</a:t>
            </a:r>
            <a:r>
              <a:rPr lang="ko-KR" altLang="en-US" sz="175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믹싱</a:t>
            </a:r>
          </a:p>
        </p:txBody>
      </p:sp>
      <p:pic>
        <p:nvPicPr>
          <p:cNvPr id="10" name="Picture_17_8" descr="등불과 계단의 시선 유도 · 프로젝트 보관 캡처; Assets/Temp/SummitMistReveal~/Opening.png">
            <a:extLst>
              <a:ext uri="{FF2B5EF4-FFF2-40B4-BE49-F238E27FC236}">
                <a16:creationId xmlns:a16="http://schemas.microsoft.com/office/drawing/2014/main" id="{8BF4C14C-4B51-2AFB-F428-4484E6F501C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700" y="1867916"/>
            <a:ext cx="5473700" cy="3503168"/>
          </a:xfrm>
          <a:prstGeom prst="rect">
            <a:avLst/>
          </a:prstGeom>
        </p:spPr>
      </p:pic>
      <p:sp>
        <p:nvSpPr>
          <p:cNvPr id="11" name="Text_17_9">
            <a:extLst>
              <a:ext uri="{FF2B5EF4-FFF2-40B4-BE49-F238E27FC236}">
                <a16:creationId xmlns:a16="http://schemas.microsoft.com/office/drawing/2014/main" id="{582008E4-9054-3445-31CC-98417E9A676F}"/>
              </a:ext>
            </a:extLst>
          </p:cNvPr>
          <p:cNvSpPr txBox="1"/>
          <p:nvPr/>
        </p:nvSpPr>
        <p:spPr>
          <a:xfrm>
            <a:off x="5854700" y="5575299"/>
            <a:ext cx="54737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등불과 계단의 시선 유도 </a:t>
            </a:r>
            <a:r>
              <a:rPr lang="en-US" altLang="ko-KR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0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보관 캡처</a:t>
            </a:r>
          </a:p>
        </p:txBody>
      </p:sp>
    </p:spTree>
    <p:extLst>
      <p:ext uri="{BB962C8B-B14F-4D97-AF65-F5344CB8AC3E}">
        <p14:creationId xmlns:p14="http://schemas.microsoft.com/office/powerpoint/2010/main" val="2256939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8_1">
            <a:extLst>
              <a:ext uri="{FF2B5EF4-FFF2-40B4-BE49-F238E27FC236}">
                <a16:creationId xmlns:a16="http://schemas.microsoft.com/office/drawing/2014/main" id="{2C08BA1E-4FC3-F896-B5CB-FE680E1393AF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개정본 이후의 프로젝트 현황</a:t>
            </a:r>
          </a:p>
        </p:txBody>
      </p:sp>
      <p:sp>
        <p:nvSpPr>
          <p:cNvPr id="3" name="Text_18_2">
            <a:extLst>
              <a:ext uri="{FF2B5EF4-FFF2-40B4-BE49-F238E27FC236}">
                <a16:creationId xmlns:a16="http://schemas.microsoft.com/office/drawing/2014/main" id="{FD2B67BC-0E62-5A40-DFD7-3983E1B351C9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4" name="Table_18">
            <a:extLst>
              <a:ext uri="{FF2B5EF4-FFF2-40B4-BE49-F238E27FC236}">
                <a16:creationId xmlns:a16="http://schemas.microsoft.com/office/drawing/2014/main" id="{7C7B3277-BDF2-3721-AF1B-997B3C327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701158"/>
              </p:ext>
            </p:extLst>
          </p:nvPr>
        </p:nvGraphicFramePr>
        <p:xfrm>
          <a:off x="863600" y="1714500"/>
          <a:ext cx="10464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0500">
                  <a:extLst>
                    <a:ext uri="{9D8B030D-6E8A-4147-A177-3AD203B41FA5}">
                      <a16:colId xmlns:a16="http://schemas.microsoft.com/office/drawing/2014/main" val="201744409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522217439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67108488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영역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개정본 </a:t>
                      </a:r>
                      <a:r>
                        <a:rPr lang="en-US" altLang="ko-KR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v0.2</a:t>
                      </a:r>
                      <a:endParaRPr lang="ko-KR" altLang="en-US" sz="1700" b="1">
                        <a:solidFill>
                          <a:srgbClr val="FFF9E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현재 저장된 프로젝트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922472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부채 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VFX·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바람 피해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테스트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본편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최적화 씬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965696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확장 보스 패턴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별도 테스트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본편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최적화 씬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851289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강피격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기상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사망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후속 통합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실제 피격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 상태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810453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회복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상세 기재 없음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회복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산신각 충전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098857"/>
                  </a:ext>
                </a:extLst>
              </a:tr>
              <a:tr h="61383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활성 빌드 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SampleScene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MountainPass_Optimized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841073"/>
                  </a:ext>
                </a:extLst>
              </a:tr>
            </a:tbl>
          </a:graphicData>
        </a:graphic>
      </p:graphicFrame>
      <p:sp>
        <p:nvSpPr>
          <p:cNvPr id="5" name="Text_18_4">
            <a:extLst>
              <a:ext uri="{FF2B5EF4-FFF2-40B4-BE49-F238E27FC236}">
                <a16:creationId xmlns:a16="http://schemas.microsoft.com/office/drawing/2014/main" id="{2CB05022-B381-9D5D-308B-1D2E6322D895}"/>
              </a:ext>
            </a:extLst>
          </p:cNvPr>
          <p:cNvSpPr txBox="1"/>
          <p:nvPr/>
        </p:nvSpPr>
        <p:spPr>
          <a:xfrm>
            <a:off x="863600" y="58292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「씬 연결」은 저장된 코드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참조 확인을 뜻한다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안정성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 완성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성능 검증과 구분한다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1360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9_1">
            <a:extLst>
              <a:ext uri="{FF2B5EF4-FFF2-40B4-BE49-F238E27FC236}">
                <a16:creationId xmlns:a16="http://schemas.microsoft.com/office/drawing/2014/main" id="{8C6BCF0D-3B66-C527-EE71-3168754FD916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1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차 시연 완료 기준</a:t>
            </a:r>
          </a:p>
        </p:txBody>
      </p:sp>
      <p:sp>
        <p:nvSpPr>
          <p:cNvPr id="3" name="Text_19_2">
            <a:extLst>
              <a:ext uri="{FF2B5EF4-FFF2-40B4-BE49-F238E27FC236}">
                <a16:creationId xmlns:a16="http://schemas.microsoft.com/office/drawing/2014/main" id="{414A00EC-7684-A00A-7F30-AB9AABA19065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19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19_3">
            <a:extLst>
              <a:ext uri="{FF2B5EF4-FFF2-40B4-BE49-F238E27FC236}">
                <a16:creationId xmlns:a16="http://schemas.microsoft.com/office/drawing/2014/main" id="{E3430DAE-45FF-AFD3-755A-28F9996C172B}"/>
              </a:ext>
            </a:extLst>
          </p:cNvPr>
          <p:cNvSpPr txBox="1"/>
          <p:nvPr/>
        </p:nvSpPr>
        <p:spPr>
          <a:xfrm>
            <a:off x="863600" y="1689099"/>
            <a:ext cx="10464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400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하나의 실행본에서 시작부터 재도전까지 이어지는 상태</a:t>
            </a:r>
          </a:p>
        </p:txBody>
      </p:sp>
      <p:graphicFrame>
        <p:nvGraphicFramePr>
          <p:cNvPr id="5" name="Table_19">
            <a:extLst>
              <a:ext uri="{FF2B5EF4-FFF2-40B4-BE49-F238E27FC236}">
                <a16:creationId xmlns:a16="http://schemas.microsoft.com/office/drawing/2014/main" id="{F3C590A6-9E97-5781-B5EE-557E222A0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347763"/>
              </p:ext>
            </p:extLst>
          </p:nvPr>
        </p:nvGraphicFramePr>
        <p:xfrm>
          <a:off x="863600" y="2565400"/>
          <a:ext cx="104648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356968529"/>
                    </a:ext>
                  </a:extLst>
                </a:gridCol>
                <a:gridCol w="7823200">
                  <a:extLst>
                    <a:ext uri="{9D8B030D-6E8A-4147-A177-3AD203B41FA5}">
                      <a16:colId xmlns:a16="http://schemas.microsoft.com/office/drawing/2014/main" val="2350707549"/>
                    </a:ext>
                  </a:extLst>
                </a:gridCol>
              </a:tblGrid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 구간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완료 조건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784079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진입과 탐색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일반 여정과 보스 즉시 도전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막힘 없는 이동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25567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거점과 전환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호리병 충전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산문 통과와 등장 연출 연결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76510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보이는 공격과 피해 일치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회피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반격 기회 확보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011863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반복 플레이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승리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패배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낙하</a:t>
                      </a:r>
                      <a:r>
                        <a:rPr lang="en-US" altLang="ko-KR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일시정지 후 정상 재도전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75850"/>
                  </a:ext>
                </a:extLst>
              </a:tr>
              <a:tr h="505883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65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등록된 최적화 씬으로 빌드 후 같은 흐름 확인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900561"/>
                  </a:ext>
                </a:extLst>
              </a:tr>
            </a:tbl>
          </a:graphicData>
        </a:graphic>
      </p:graphicFrame>
      <p:sp>
        <p:nvSpPr>
          <p:cNvPr id="6" name="Text_19_5">
            <a:extLst>
              <a:ext uri="{FF2B5EF4-FFF2-40B4-BE49-F238E27FC236}">
                <a16:creationId xmlns:a16="http://schemas.microsoft.com/office/drawing/2014/main" id="{B7FD565F-79BB-CC62-119B-CF3B79B24553}"/>
              </a:ext>
            </a:extLst>
          </p:cNvPr>
          <p:cNvSpPr txBox="1"/>
          <p:nvPr/>
        </p:nvSpPr>
        <p:spPr>
          <a:xfrm>
            <a:off x="863600" y="58927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시연 분량과 잔여 일정은 통합된 흐름을 실제로 플레이한 뒤 다시 산정한다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87935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0_1">
            <a:extLst>
              <a:ext uri="{FF2B5EF4-FFF2-40B4-BE49-F238E27FC236}">
                <a16:creationId xmlns:a16="http://schemas.microsoft.com/office/drawing/2014/main" id="{F01D85C8-0747-1373-7EE7-EDB54D5BE85A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후속 작업의 우선순위</a:t>
            </a:r>
          </a:p>
        </p:txBody>
      </p:sp>
      <p:sp>
        <p:nvSpPr>
          <p:cNvPr id="3" name="Text_20_2">
            <a:extLst>
              <a:ext uri="{FF2B5EF4-FFF2-40B4-BE49-F238E27FC236}">
                <a16:creationId xmlns:a16="http://schemas.microsoft.com/office/drawing/2014/main" id="{9087E31B-172D-72A0-7BCE-78A24016C904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0_3">
            <a:extLst>
              <a:ext uri="{FF2B5EF4-FFF2-40B4-BE49-F238E27FC236}">
                <a16:creationId xmlns:a16="http://schemas.microsoft.com/office/drawing/2014/main" id="{17707CD0-1097-7AE0-2471-B75C6DE22164}"/>
              </a:ext>
            </a:extLst>
          </p:cNvPr>
          <p:cNvSpPr txBox="1"/>
          <p:nvPr/>
        </p:nvSpPr>
        <p:spPr>
          <a:xfrm>
            <a:off x="863600" y="1689099"/>
            <a:ext cx="104648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700">
                <a:solidFill>
                  <a:srgbClr val="3F6A5B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통합 이후의 검증과 조정에 집중</a:t>
            </a:r>
          </a:p>
        </p:txBody>
      </p:sp>
      <p:graphicFrame>
        <p:nvGraphicFramePr>
          <p:cNvPr id="5" name="Table_20">
            <a:extLst>
              <a:ext uri="{FF2B5EF4-FFF2-40B4-BE49-F238E27FC236}">
                <a16:creationId xmlns:a16="http://schemas.microsoft.com/office/drawing/2014/main" id="{BAADCB2D-0E3E-C403-0ED2-45270F875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54030"/>
              </p:ext>
            </p:extLst>
          </p:nvPr>
        </p:nvGraphicFramePr>
        <p:xfrm>
          <a:off x="863600" y="2603500"/>
          <a:ext cx="10464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843931511"/>
                    </a:ext>
                  </a:extLst>
                </a:gridCol>
                <a:gridCol w="4292600">
                  <a:extLst>
                    <a:ext uri="{9D8B030D-6E8A-4147-A177-3AD203B41FA5}">
                      <a16:colId xmlns:a16="http://schemas.microsoft.com/office/drawing/2014/main" val="156710994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3504425399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순서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작업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1">
                          <a:solidFill>
                            <a:srgbClr val="FFF9E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확인할 결과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3F6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337769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공격 판정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보스 난이도 조정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VFX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와 피해 일치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전조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반격 시간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1226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반복 플레이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가독성 점검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재도전 안정성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시야와 입력 응답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88485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배포 실행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성능 측정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실행본 동작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프레임과 메모리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9F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35361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endParaRPr lang="ko-KR" altLang="en-US" sz="1700" b="0">
                        <a:solidFill>
                          <a:srgbClr val="263D37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사운드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·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 도술 검토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0"/>
                        </a:spcAft>
                      </a:pP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음악 교체</a:t>
                      </a:r>
                      <a:r>
                        <a:rPr lang="en-US" altLang="ko-KR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700" b="0">
                          <a:solidFill>
                            <a:srgbClr val="263D37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역할과 자원 규칙</a:t>
                      </a:r>
                    </a:p>
                  </a:txBody>
                  <a:tcPr marL="139700" marR="101600" marT="88900" marB="76200" anchor="ctr">
                    <a:lnL w="6350" cmpd="sng">
                      <a:solidFill>
                        <a:srgbClr val="DDD4C1"/>
                      </a:solidFill>
                    </a:lnL>
                    <a:lnR w="6350" cmpd="sng">
                      <a:solidFill>
                        <a:srgbClr val="DDD4C1"/>
                      </a:solidFill>
                    </a:lnR>
                    <a:lnT w="6350" cmpd="sng">
                      <a:solidFill>
                        <a:srgbClr val="DDD4C1"/>
                      </a:solidFill>
                    </a:lnT>
                    <a:lnB w="6350" cmpd="sng">
                      <a:solidFill>
                        <a:srgbClr val="DDD4C1"/>
                      </a:solidFill>
                    </a:lnB>
                    <a:solidFill>
                      <a:srgbClr val="F1E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289932"/>
                  </a:ext>
                </a:extLst>
              </a:tr>
            </a:tbl>
          </a:graphicData>
        </a:graphic>
      </p:graphicFrame>
      <p:sp>
        <p:nvSpPr>
          <p:cNvPr id="6" name="Text_20_5">
            <a:extLst>
              <a:ext uri="{FF2B5EF4-FFF2-40B4-BE49-F238E27FC236}">
                <a16:creationId xmlns:a16="http://schemas.microsoft.com/office/drawing/2014/main" id="{838CB880-6D08-1191-5E72-98602CC95F08}"/>
              </a:ext>
            </a:extLst>
          </p:cNvPr>
          <p:cNvSpPr txBox="1"/>
          <p:nvPr/>
        </p:nvSpPr>
        <p:spPr>
          <a:xfrm>
            <a:off x="863600" y="59054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현황을 반영한 우선순위 제안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60FPS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제한 설정은 실제 성능 유지의 검증 결과가 아니다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997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1_1">
            <a:extLst>
              <a:ext uri="{FF2B5EF4-FFF2-40B4-BE49-F238E27FC236}">
                <a16:creationId xmlns:a16="http://schemas.microsoft.com/office/drawing/2014/main" id="{06C2FC9C-B644-249B-0C2A-E6699B0C5416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장기 확장 방향</a:t>
            </a:r>
          </a:p>
        </p:txBody>
      </p:sp>
      <p:sp>
        <p:nvSpPr>
          <p:cNvPr id="3" name="Text_21_2">
            <a:extLst>
              <a:ext uri="{FF2B5EF4-FFF2-40B4-BE49-F238E27FC236}">
                <a16:creationId xmlns:a16="http://schemas.microsoft.com/office/drawing/2014/main" id="{31FFDBCE-117F-0642-97BC-72EDE0A93D62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21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1_3">
            <a:extLst>
              <a:ext uri="{FF2B5EF4-FFF2-40B4-BE49-F238E27FC236}">
                <a16:creationId xmlns:a16="http://schemas.microsoft.com/office/drawing/2014/main" id="{86548A0B-04C7-B34C-CAA9-10B634B107CF}"/>
              </a:ext>
            </a:extLst>
          </p:cNvPr>
          <p:cNvSpPr txBox="1"/>
          <p:nvPr/>
        </p:nvSpPr>
        <p:spPr>
          <a:xfrm>
            <a:off x="863600" y="17652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도술과 전투의 확장</a:t>
            </a:r>
          </a:p>
        </p:txBody>
      </p:sp>
      <p:sp>
        <p:nvSpPr>
          <p:cNvPr id="5" name="Text_21_4">
            <a:extLst>
              <a:ext uri="{FF2B5EF4-FFF2-40B4-BE49-F238E27FC236}">
                <a16:creationId xmlns:a16="http://schemas.microsoft.com/office/drawing/2014/main" id="{42454634-B4B6-BA64-2D5C-900B49D4FEEB}"/>
              </a:ext>
            </a:extLst>
          </p:cNvPr>
          <p:cNvSpPr txBox="1"/>
          <p:nvPr/>
        </p:nvSpPr>
        <p:spPr>
          <a:xfrm>
            <a:off x="863600" y="22605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부채와 바람을 발전시키고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독립 도술의 역할과 자원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재사용 규칙을 정한다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_21_5">
            <a:extLst>
              <a:ext uri="{FF2B5EF4-FFF2-40B4-BE49-F238E27FC236}">
                <a16:creationId xmlns:a16="http://schemas.microsoft.com/office/drawing/2014/main" id="{3E607A89-D8D7-BE61-AD39-11706AF9F546}"/>
              </a:ext>
            </a:extLst>
          </p:cNvPr>
          <p:cNvSpPr txBox="1"/>
          <p:nvPr/>
        </p:nvSpPr>
        <p:spPr>
          <a:xfrm>
            <a:off x="863600" y="31749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현실과 영계의 차이 확대</a:t>
            </a:r>
          </a:p>
        </p:txBody>
      </p:sp>
      <p:sp>
        <p:nvSpPr>
          <p:cNvPr id="7" name="Text_21_6">
            <a:extLst>
              <a:ext uri="{FF2B5EF4-FFF2-40B4-BE49-F238E27FC236}">
                <a16:creationId xmlns:a16="http://schemas.microsoft.com/office/drawing/2014/main" id="{2EA72810-BE90-EEF1-7C91-E9A234945EDE}"/>
              </a:ext>
            </a:extLst>
          </p:cNvPr>
          <p:cNvSpPr txBox="1"/>
          <p:nvPr/>
        </p:nvSpPr>
        <p:spPr>
          <a:xfrm>
            <a:off x="863600" y="36702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같은 장소의 환경 변화에서 나아가 지형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기믹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적 배치의 차이를 만든다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21_7">
            <a:extLst>
              <a:ext uri="{FF2B5EF4-FFF2-40B4-BE49-F238E27FC236}">
                <a16:creationId xmlns:a16="http://schemas.microsoft.com/office/drawing/2014/main" id="{453201C9-655D-09CE-B566-66BBBE98ECF7}"/>
              </a:ext>
            </a:extLst>
          </p:cNvPr>
          <p:cNvSpPr txBox="1"/>
          <p:nvPr/>
        </p:nvSpPr>
        <p:spPr>
          <a:xfrm>
            <a:off x="863600" y="45846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다음 수련과 성장</a:t>
            </a:r>
          </a:p>
        </p:txBody>
      </p:sp>
      <p:sp>
        <p:nvSpPr>
          <p:cNvPr id="9" name="Text_21_8">
            <a:extLst>
              <a:ext uri="{FF2B5EF4-FFF2-40B4-BE49-F238E27FC236}">
                <a16:creationId xmlns:a16="http://schemas.microsoft.com/office/drawing/2014/main" id="{FEDB0D85-8569-2DC4-6AF8-6E7B72704548}"/>
              </a:ext>
            </a:extLst>
          </p:cNvPr>
          <p:cNvSpPr txBox="1"/>
          <p:nvPr/>
        </p:nvSpPr>
        <p:spPr>
          <a:xfrm>
            <a:off x="863600" y="5079999"/>
            <a:ext cx="10464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한국 설화 기반 지역과 보스를 추가하고 탐험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성장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퀘스트를 도입한다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_21_9">
            <a:extLst>
              <a:ext uri="{FF2B5EF4-FFF2-40B4-BE49-F238E27FC236}">
                <a16:creationId xmlns:a16="http://schemas.microsoft.com/office/drawing/2014/main" id="{FE1D3230-9430-9EDE-84F7-60C6CFE40330}"/>
              </a:ext>
            </a:extLst>
          </p:cNvPr>
          <p:cNvSpPr txBox="1"/>
          <p:nvPr/>
        </p:nvSpPr>
        <p:spPr>
          <a:xfrm>
            <a:off x="863600" y="58546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현재 한 구간의 경험을 안정화한 뒤 확장 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출시 플랫폼과 저장 구조는 별도 결정</a:t>
            </a:r>
          </a:p>
        </p:txBody>
      </p:sp>
    </p:spTree>
    <p:extLst>
      <p:ext uri="{BB962C8B-B14F-4D97-AF65-F5344CB8AC3E}">
        <p14:creationId xmlns:p14="http://schemas.microsoft.com/office/powerpoint/2010/main" val="4152551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22_1">
            <a:extLst>
              <a:ext uri="{FF2B5EF4-FFF2-40B4-BE49-F238E27FC236}">
                <a16:creationId xmlns:a16="http://schemas.microsoft.com/office/drawing/2014/main" id="{ED732D9A-F8E3-5286-DFCA-3C8967714723}"/>
              </a:ext>
            </a:extLst>
          </p:cNvPr>
          <p:cNvSpPr txBox="1"/>
          <p:nvPr/>
        </p:nvSpPr>
        <p:spPr>
          <a:xfrm>
            <a:off x="863600" y="609599"/>
            <a:ext cx="10464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부록 </a:t>
            </a:r>
            <a:r>
              <a:rPr lang="en-US" altLang="ko-KR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· </a:t>
            </a:r>
            <a:r>
              <a:rPr lang="ko-KR" altLang="en-US" sz="3100">
                <a:solidFill>
                  <a:srgbClr val="263D37"/>
                </a:solidFill>
                <a:latin typeface="Noto Serif KR" panose="02020200000000000000" pitchFamily="18" charset="-127"/>
                <a:ea typeface="Noto Serif KR" panose="02020200000000000000" pitchFamily="18" charset="-127"/>
              </a:rPr>
              <a:t>자료와 확인 범위</a:t>
            </a:r>
          </a:p>
        </p:txBody>
      </p:sp>
      <p:sp>
        <p:nvSpPr>
          <p:cNvPr id="3" name="Text_22_2">
            <a:extLst>
              <a:ext uri="{FF2B5EF4-FFF2-40B4-BE49-F238E27FC236}">
                <a16:creationId xmlns:a16="http://schemas.microsoft.com/office/drawing/2014/main" id="{805009F2-CB35-1B46-A3BD-1FC04DE478EA}"/>
              </a:ext>
            </a:extLst>
          </p:cNvPr>
          <p:cNvSpPr txBox="1"/>
          <p:nvPr/>
        </p:nvSpPr>
        <p:spPr>
          <a:xfrm>
            <a:off x="11010900" y="6388100"/>
            <a:ext cx="3556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lang="en-US" altLang="ko-KR" sz="1050">
                <a:solidFill>
                  <a:srgbClr val="A5834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r>
            <a:endParaRPr lang="ko-KR" altLang="en-US" sz="1050">
              <a:solidFill>
                <a:srgbClr val="A5834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_22_3">
            <a:extLst>
              <a:ext uri="{FF2B5EF4-FFF2-40B4-BE49-F238E27FC236}">
                <a16:creationId xmlns:a16="http://schemas.microsoft.com/office/drawing/2014/main" id="{DED1F828-3BD6-5E1E-E15E-1A96E05E1522}"/>
              </a:ext>
            </a:extLst>
          </p:cNvPr>
          <p:cNvSpPr txBox="1"/>
          <p:nvPr/>
        </p:nvSpPr>
        <p:spPr>
          <a:xfrm>
            <a:off x="863600" y="1739899"/>
            <a:ext cx="46863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 기준</a:t>
            </a:r>
          </a:p>
        </p:txBody>
      </p:sp>
      <p:sp>
        <p:nvSpPr>
          <p:cNvPr id="5" name="Text_22_4">
            <a:extLst>
              <a:ext uri="{FF2B5EF4-FFF2-40B4-BE49-F238E27FC236}">
                <a16:creationId xmlns:a16="http://schemas.microsoft.com/office/drawing/2014/main" id="{494C3673-E657-16CA-B820-50F3D789D7CD}"/>
              </a:ext>
            </a:extLst>
          </p:cNvPr>
          <p:cNvSpPr txBox="1"/>
          <p:nvPr/>
        </p:nvSpPr>
        <p:spPr>
          <a:xfrm>
            <a:off x="863600" y="2235199"/>
            <a:ext cx="46863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천지인 기획서 개정본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v0.2
2026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개정</a:t>
            </a:r>
          </a:p>
        </p:txBody>
      </p:sp>
      <p:sp>
        <p:nvSpPr>
          <p:cNvPr id="6" name="Text_22_5">
            <a:extLst>
              <a:ext uri="{FF2B5EF4-FFF2-40B4-BE49-F238E27FC236}">
                <a16:creationId xmlns:a16="http://schemas.microsoft.com/office/drawing/2014/main" id="{B9D20D31-3E67-4F7E-2D29-E4F370780530}"/>
              </a:ext>
            </a:extLst>
          </p:cNvPr>
          <p:cNvSpPr txBox="1"/>
          <p:nvPr/>
        </p:nvSpPr>
        <p:spPr>
          <a:xfrm>
            <a:off x="6324600" y="1739899"/>
            <a:ext cx="5003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기준</a:t>
            </a:r>
          </a:p>
        </p:txBody>
      </p:sp>
      <p:sp>
        <p:nvSpPr>
          <p:cNvPr id="7" name="Text_22_6">
            <a:extLst>
              <a:ext uri="{FF2B5EF4-FFF2-40B4-BE49-F238E27FC236}">
                <a16:creationId xmlns:a16="http://schemas.microsoft.com/office/drawing/2014/main" id="{D8B958AE-73B4-FF87-2206-00A79A6C87F8}"/>
              </a:ext>
            </a:extLst>
          </p:cNvPr>
          <p:cNvSpPr txBox="1"/>
          <p:nvPr/>
        </p:nvSpPr>
        <p:spPr>
          <a:xfrm>
            <a:off x="6324600" y="2235199"/>
            <a:ext cx="50038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27</a:t>
            </a:r>
            <a:r>
              <a:rPr lang="ko-KR" altLang="en-US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 저장 상태
</a:t>
            </a:r>
            <a:r>
              <a:rPr lang="en-US" altLang="ko-KR" sz="185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MountainPass / MountainPass_Optimized</a:t>
            </a:r>
            <a:endParaRPr lang="ko-KR" altLang="en-US" sz="1850">
              <a:solidFill>
                <a:srgbClr val="263D37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_22_7">
            <a:extLst>
              <a:ext uri="{FF2B5EF4-FFF2-40B4-BE49-F238E27FC236}">
                <a16:creationId xmlns:a16="http://schemas.microsoft.com/office/drawing/2014/main" id="{4E9C26AD-CFD9-EF9F-BB95-FD07B6AE07BE}"/>
              </a:ext>
            </a:extLst>
          </p:cNvPr>
          <p:cNvSpPr txBox="1"/>
          <p:nvPr/>
        </p:nvSpPr>
        <p:spPr>
          <a:xfrm>
            <a:off x="863600" y="3530599"/>
            <a:ext cx="104648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2100" b="1">
                <a:solidFill>
                  <a:srgbClr val="3F6A5B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확인 자료</a:t>
            </a:r>
          </a:p>
        </p:txBody>
      </p:sp>
      <p:sp>
        <p:nvSpPr>
          <p:cNvPr id="9" name="Text_22_8">
            <a:extLst>
              <a:ext uri="{FF2B5EF4-FFF2-40B4-BE49-F238E27FC236}">
                <a16:creationId xmlns:a16="http://schemas.microsoft.com/office/drawing/2014/main" id="{EF3C574C-30FA-4EE7-420B-E40BDD4BA53E}"/>
              </a:ext>
            </a:extLst>
          </p:cNvPr>
          <p:cNvSpPr txBox="1"/>
          <p:nvPr/>
        </p:nvSpPr>
        <p:spPr>
          <a:xfrm>
            <a:off x="863600" y="4114799"/>
            <a:ext cx="10464800" cy="1358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씬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프리팹의 컴포넌트와 참조
진행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전투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회복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보스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카메라 코드 및 설정값
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Unity 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버전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패키지</a:t>
            </a:r>
            <a:r>
              <a:rPr lang="en-US" altLang="ko-KR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900">
                <a:solidFill>
                  <a:srgbClr val="263D37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활성 빌드 씬</a:t>
            </a:r>
          </a:p>
        </p:txBody>
      </p:sp>
      <p:sp>
        <p:nvSpPr>
          <p:cNvPr id="10" name="Text_22_9">
            <a:extLst>
              <a:ext uri="{FF2B5EF4-FFF2-40B4-BE49-F238E27FC236}">
                <a16:creationId xmlns:a16="http://schemas.microsoft.com/office/drawing/2014/main" id="{B798801A-2180-1C48-6CB8-184E7A525C21}"/>
              </a:ext>
            </a:extLst>
          </p:cNvPr>
          <p:cNvSpPr txBox="1"/>
          <p:nvPr/>
        </p:nvSpPr>
        <p:spPr>
          <a:xfrm>
            <a:off x="863600" y="5880099"/>
            <a:ext cx="104648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플레이 실행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배포 빌드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실측 성능은 이번 확인에 포함하지 않았다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상세 경로는 슬라이드 노트에 기록했다</a:t>
            </a:r>
            <a:r>
              <a:rPr lang="en-US" altLang="ko-KR" sz="1150">
                <a:solidFill>
                  <a:srgbClr val="6667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150">
              <a:solidFill>
                <a:srgbClr val="66675C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3594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4141</Words>
  <Application>Microsoft Office PowerPoint</Application>
  <PresentationFormat>사용자 지정</PresentationFormat>
  <Paragraphs>318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Noto Sans KR</vt:lpstr>
      <vt:lpstr>Noto Serif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MBC</dc:creator>
  <cp:lastModifiedBy>MBC</cp:lastModifiedBy>
  <cp:revision>1</cp:revision>
  <dcterms:created xsi:type="dcterms:W3CDTF">2026-10-27T06:12:42Z</dcterms:created>
  <dcterms:modified xsi:type="dcterms:W3CDTF">2026-10-27T06:12:48Z</dcterms:modified>
</cp:coreProperties>
</file>